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9" d="100"/>
          <a:sy n="79" d="100"/>
        </p:scale>
        <p:origin x="730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06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3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7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20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71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85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50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55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2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28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BBEB2-5F74-4DAE-A1A7-8C9C4D30FA32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1ED9B-0A78-46FE-8473-ACF6A6187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96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E7D04-C67E-E771-99D0-9DDDC417BCEC}"/>
              </a:ext>
            </a:extLst>
          </p:cNvPr>
          <p:cNvSpPr txBox="1"/>
          <p:nvPr/>
        </p:nvSpPr>
        <p:spPr>
          <a:xfrm>
            <a:off x="545351" y="347675"/>
            <a:ext cx="3640723" cy="3323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snapshot = {    </a:t>
            </a:r>
          </a:p>
          <a:p>
            <a:pPr lvl="1"/>
            <a:r>
              <a:rPr lang="it-IT" sz="1600" dirty="0">
                <a:solidFill>
                  <a:srgbClr val="00B050"/>
                </a:solidFill>
              </a:rPr>
              <a:t>"2030"</a:t>
            </a:r>
            <a:r>
              <a:rPr lang="it-IT" sz="1600" dirty="0"/>
              <a:t>: {       </a:t>
            </a:r>
          </a:p>
          <a:p>
            <a:pPr lvl="2"/>
            <a:r>
              <a:rPr lang="it-IT" sz="1600" dirty="0">
                <a:solidFill>
                  <a:srgbClr val="00B050"/>
                </a:solidFill>
              </a:rPr>
              <a:t>"Scenario 1"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11.689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2"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53.810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3"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32.749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4"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22.219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5"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43.280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6"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11.689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7"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17.080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8"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12.689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9"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11.322</a:t>
            </a:r>
            <a:r>
              <a:rPr lang="it-IT" sz="1600" dirty="0"/>
              <a:t>,        </a:t>
            </a:r>
            <a:r>
              <a:rPr lang="it-IT" sz="1600" dirty="0">
                <a:solidFill>
                  <a:srgbClr val="00B050"/>
                </a:solidFill>
              </a:rPr>
              <a:t>"Scenario 10"</a:t>
            </a:r>
            <a:r>
              <a:rPr lang="it-IT" sz="1600" dirty="0"/>
              <a:t>: </a:t>
            </a:r>
            <a:r>
              <a:rPr lang="it-IT" sz="1600" dirty="0">
                <a:solidFill>
                  <a:srgbClr val="FF3399"/>
                </a:solidFill>
              </a:rPr>
              <a:t>17.507</a:t>
            </a:r>
            <a:r>
              <a:rPr lang="it-IT" sz="1600" dirty="0"/>
              <a:t>,  </a:t>
            </a:r>
          </a:p>
          <a:p>
            <a:pPr lvl="1"/>
            <a:r>
              <a:rPr lang="it-IT" sz="1600" dirty="0"/>
              <a:t>  }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49DE4-CF56-F973-1FE3-6465038EF681}"/>
              </a:ext>
            </a:extLst>
          </p:cNvPr>
          <p:cNvSpPr txBox="1"/>
          <p:nvPr/>
        </p:nvSpPr>
        <p:spPr>
          <a:xfrm>
            <a:off x="4186074" y="348771"/>
            <a:ext cx="3640723" cy="33547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it-IT" sz="1600" dirty="0"/>
          </a:p>
          <a:p>
            <a:r>
              <a:rPr lang="it-IT" sz="1600" dirty="0">
                <a:solidFill>
                  <a:srgbClr val="00B050"/>
                </a:solidFill>
              </a:rPr>
              <a:t>"2040"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/>
              <a:t>{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1"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12.735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2"</a:t>
            </a:r>
            <a:r>
              <a:rPr lang="it-IT" sz="1600" dirty="0"/>
              <a:t>: </a:t>
            </a:r>
            <a:r>
              <a:rPr lang="it-IT" sz="1600" dirty="0">
                <a:solidFill>
                  <a:srgbClr val="FF3399"/>
                </a:solidFill>
              </a:rPr>
              <a:t>58.626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3"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35.681</a:t>
            </a:r>
            <a:r>
              <a:rPr lang="it-IT" sz="1600" dirty="0"/>
              <a:t>,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4"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24.208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5"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47.153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6"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12.735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7"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18.084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8"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12.735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9"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19.101</a:t>
            </a:r>
            <a:r>
              <a:rPr lang="it-IT" sz="1600" dirty="0"/>
              <a:t>,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10"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19.019</a:t>
            </a:r>
            <a:r>
              <a:rPr lang="it-IT" sz="1600" dirty="0"/>
              <a:t>,</a:t>
            </a:r>
          </a:p>
          <a:p>
            <a:r>
              <a:rPr lang="it-IT" sz="1600" dirty="0"/>
              <a:t>    }</a:t>
            </a: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718FB-0982-24D0-F572-0CEA45D36DD3}"/>
              </a:ext>
            </a:extLst>
          </p:cNvPr>
          <p:cNvSpPr txBox="1"/>
          <p:nvPr/>
        </p:nvSpPr>
        <p:spPr>
          <a:xfrm>
            <a:off x="7525232" y="348771"/>
            <a:ext cx="3640723" cy="32932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it-IT" dirty="0"/>
          </a:p>
          <a:p>
            <a:r>
              <a:rPr lang="it-IT" sz="1600" dirty="0">
                <a:solidFill>
                  <a:srgbClr val="00B050"/>
                </a:solidFill>
              </a:rPr>
              <a:t>"2050": </a:t>
            </a:r>
            <a:r>
              <a:rPr lang="it-IT" sz="1600" dirty="0"/>
              <a:t>{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1"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13.398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2"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61.674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3"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37.536</a:t>
            </a:r>
            <a:r>
              <a:rPr lang="it-IT" sz="1600" dirty="0"/>
              <a:t>,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4"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25.467</a:t>
            </a:r>
            <a:r>
              <a:rPr lang="it-IT" sz="1600" dirty="0"/>
              <a:t>,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5"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49.605</a:t>
            </a:r>
            <a:r>
              <a:rPr lang="it-IT" sz="1600" dirty="0"/>
              <a:t>,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6"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13.398</a:t>
            </a:r>
            <a:r>
              <a:rPr lang="it-IT" sz="1600" dirty="0"/>
              <a:t>,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7"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16.148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8"</a:t>
            </a:r>
            <a:r>
              <a:rPr lang="it-IT" sz="1600" dirty="0"/>
              <a:t>:</a:t>
            </a:r>
            <a:r>
              <a:rPr lang="it-IT" sz="1600" dirty="0">
                <a:solidFill>
                  <a:srgbClr val="00B050"/>
                </a:solidFill>
              </a:rPr>
              <a:t> </a:t>
            </a:r>
            <a:r>
              <a:rPr lang="it-IT" sz="1600" dirty="0">
                <a:solidFill>
                  <a:srgbClr val="FF3399"/>
                </a:solidFill>
              </a:rPr>
              <a:t>15.801</a:t>
            </a:r>
            <a:r>
              <a:rPr lang="it-IT" sz="1600" dirty="0"/>
              <a:t>,</a:t>
            </a:r>
          </a:p>
          <a:p>
            <a:r>
              <a:rPr lang="it-IT" sz="1600" dirty="0"/>
              <a:t>        </a:t>
            </a:r>
            <a:r>
              <a:rPr lang="it-IT" sz="1600" dirty="0">
                <a:solidFill>
                  <a:srgbClr val="00B050"/>
                </a:solidFill>
              </a:rPr>
              <a:t>"Scenario 9"</a:t>
            </a:r>
            <a:r>
              <a:rPr lang="it-IT" sz="1600" dirty="0"/>
              <a:t>: </a:t>
            </a:r>
            <a:r>
              <a:rPr lang="it-IT" sz="1600" dirty="0">
                <a:solidFill>
                  <a:srgbClr val="FF3399"/>
                </a:solidFill>
              </a:rPr>
              <a:t>13.398</a:t>
            </a:r>
            <a:r>
              <a:rPr lang="it-IT" sz="1600" dirty="0"/>
              <a:t>,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 "Scenario 10"</a:t>
            </a:r>
            <a:r>
              <a:rPr lang="it-IT" sz="1600" dirty="0"/>
              <a:t>: </a:t>
            </a:r>
            <a:r>
              <a:rPr lang="it-IT" sz="1600" dirty="0">
                <a:solidFill>
                  <a:srgbClr val="FF3399"/>
                </a:solidFill>
              </a:rPr>
              <a:t>21.178</a:t>
            </a:r>
            <a:r>
              <a:rPr lang="it-IT" sz="1600" dirty="0"/>
              <a:t>,</a:t>
            </a:r>
          </a:p>
          <a:p>
            <a:r>
              <a:rPr lang="it-IT" sz="1600" dirty="0"/>
              <a:t>    },</a:t>
            </a:r>
            <a:endParaRPr lang="en-GB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7BF46-F37D-1347-9755-890E8B8E23AC}"/>
              </a:ext>
            </a:extLst>
          </p:cNvPr>
          <p:cNvSpPr txBox="1"/>
          <p:nvPr/>
        </p:nvSpPr>
        <p:spPr>
          <a:xfrm>
            <a:off x="545350" y="3626770"/>
            <a:ext cx="10620605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}</a:t>
            </a:r>
          </a:p>
          <a:p>
            <a:endParaRPr lang="en-GB" sz="1600" dirty="0"/>
          </a:p>
          <a:p>
            <a:r>
              <a:rPr lang="en-GB" sz="1600" dirty="0"/>
              <a:t>for year, scenarios </a:t>
            </a:r>
            <a:r>
              <a:rPr lang="en-GB" sz="1600" dirty="0">
                <a:solidFill>
                  <a:srgbClr val="0070C0"/>
                </a:solidFill>
              </a:rPr>
              <a:t>in</a:t>
            </a:r>
            <a:r>
              <a:rPr lang="en-GB" sz="1600" dirty="0"/>
              <a:t> </a:t>
            </a:r>
            <a:r>
              <a:rPr lang="en-GB" sz="1600" dirty="0" err="1"/>
              <a:t>snapshot.items</a:t>
            </a:r>
            <a:r>
              <a:rPr lang="en-GB" sz="1600" dirty="0"/>
              <a:t>():</a:t>
            </a:r>
          </a:p>
          <a:p>
            <a:r>
              <a:rPr lang="en-GB" sz="1600" dirty="0"/>
              <a:t>    </a:t>
            </a:r>
            <a:r>
              <a:rPr lang="en-GB" sz="1600" dirty="0">
                <a:solidFill>
                  <a:schemeClr val="accent2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00B050"/>
                </a:solidFill>
              </a:rPr>
              <a:t>f"{year}</a:t>
            </a:r>
            <a:r>
              <a:rPr lang="en-GB" sz="1600" dirty="0"/>
              <a:t>:")</a:t>
            </a:r>
          </a:p>
          <a:p>
            <a:r>
              <a:rPr lang="en-GB" sz="1600" dirty="0"/>
              <a:t>    for scenario, value </a:t>
            </a:r>
            <a:r>
              <a:rPr lang="en-GB" sz="1600" dirty="0">
                <a:solidFill>
                  <a:srgbClr val="0070C0"/>
                </a:solidFill>
              </a:rPr>
              <a:t>in</a:t>
            </a:r>
            <a:r>
              <a:rPr lang="en-GB" sz="1600" dirty="0"/>
              <a:t> </a:t>
            </a:r>
            <a:r>
              <a:rPr lang="en-GB" sz="1600" dirty="0" err="1"/>
              <a:t>scenarios.items</a:t>
            </a:r>
            <a:r>
              <a:rPr lang="en-GB" sz="1600" dirty="0"/>
              <a:t>():</a:t>
            </a:r>
          </a:p>
          <a:p>
            <a:r>
              <a:rPr lang="en-GB" sz="1600" dirty="0"/>
              <a:t>        </a:t>
            </a:r>
            <a:r>
              <a:rPr lang="en-GB" sz="1600" dirty="0">
                <a:solidFill>
                  <a:schemeClr val="accent2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00B050"/>
                </a:solidFill>
              </a:rPr>
              <a:t>f"  {scenario}</a:t>
            </a:r>
            <a:r>
              <a:rPr lang="en-GB" sz="1600" dirty="0"/>
              <a:t>: {value}")</a:t>
            </a:r>
          </a:p>
        </p:txBody>
      </p:sp>
    </p:spTree>
    <p:extLst>
      <p:ext uri="{BB962C8B-B14F-4D97-AF65-F5344CB8AC3E}">
        <p14:creationId xmlns:p14="http://schemas.microsoft.com/office/powerpoint/2010/main" val="162459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259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Hemmati, Mohammad</dc:creator>
  <cp:lastModifiedBy>Hemmati, Mohammad</cp:lastModifiedBy>
  <cp:revision>1</cp:revision>
  <dcterms:created xsi:type="dcterms:W3CDTF">2025-09-21T20:11:12Z</dcterms:created>
  <dcterms:modified xsi:type="dcterms:W3CDTF">2025-09-21T21:32:40Z</dcterms:modified>
</cp:coreProperties>
</file>