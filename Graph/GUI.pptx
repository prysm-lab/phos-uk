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3"/>
  </p:notesMasterIdLst>
  <p:sldIdLst>
    <p:sldId id="257" r:id="rId2"/>
  </p:sldIdLst>
  <p:sldSz cx="21959888" cy="148685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C6E8"/>
    <a:srgbClr val="FADADD"/>
    <a:srgbClr val="F7BFC4"/>
    <a:srgbClr val="F8C8CD"/>
    <a:srgbClr val="FF9D5B"/>
    <a:srgbClr val="F9E79F"/>
    <a:srgbClr val="FAEAA8"/>
    <a:srgbClr val="FCF3CC"/>
    <a:srgbClr val="FBEEB7"/>
    <a:srgbClr val="86E2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706" autoAdjust="0"/>
  </p:normalViewPr>
  <p:slideViewPr>
    <p:cSldViewPr snapToGrid="0">
      <p:cViewPr varScale="1">
        <p:scale>
          <a:sx n="41" d="100"/>
          <a:sy n="41" d="100"/>
        </p:scale>
        <p:origin x="9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963214-4D72-4498-A0BF-8371139FB527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143000"/>
            <a:ext cx="45593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CCF7F2-4B43-4059-BE91-49350F097E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5075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CF7F2-4B43-4059-BE91-49350F097E3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4019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6992" y="2433346"/>
            <a:ext cx="18665905" cy="5176449"/>
          </a:xfrm>
        </p:spPr>
        <p:txBody>
          <a:bodyPr anchor="b"/>
          <a:lstStyle>
            <a:lvl1pPr algn="ctr">
              <a:defRPr sz="130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4986" y="7809418"/>
            <a:ext cx="16469916" cy="3589784"/>
          </a:xfrm>
        </p:spPr>
        <p:txBody>
          <a:bodyPr/>
          <a:lstStyle>
            <a:lvl1pPr marL="0" indent="0" algn="ctr">
              <a:buNone/>
              <a:defRPr sz="5203"/>
            </a:lvl1pPr>
            <a:lvl2pPr marL="991255" indent="0" algn="ctr">
              <a:buNone/>
              <a:defRPr sz="4336"/>
            </a:lvl2pPr>
            <a:lvl3pPr marL="1982511" indent="0" algn="ctr">
              <a:buNone/>
              <a:defRPr sz="3903"/>
            </a:lvl3pPr>
            <a:lvl4pPr marL="2973766" indent="0" algn="ctr">
              <a:buNone/>
              <a:defRPr sz="3469"/>
            </a:lvl4pPr>
            <a:lvl5pPr marL="3965021" indent="0" algn="ctr">
              <a:buNone/>
              <a:defRPr sz="3469"/>
            </a:lvl5pPr>
            <a:lvl6pPr marL="4956277" indent="0" algn="ctr">
              <a:buNone/>
              <a:defRPr sz="3469"/>
            </a:lvl6pPr>
            <a:lvl7pPr marL="5947532" indent="0" algn="ctr">
              <a:buNone/>
              <a:defRPr sz="3469"/>
            </a:lvl7pPr>
            <a:lvl8pPr marL="6938787" indent="0" algn="ctr">
              <a:buNone/>
              <a:defRPr sz="3469"/>
            </a:lvl8pPr>
            <a:lvl9pPr marL="7930043" indent="0" algn="ctr">
              <a:buNone/>
              <a:defRPr sz="346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0E2AC-1663-45EB-B51E-A9B0A34676B3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62771-E6D6-441A-8609-037CAAE626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4081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0E2AC-1663-45EB-B51E-A9B0A34676B3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62771-E6D6-441A-8609-037CAAE626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497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8306" y="3706810"/>
            <a:ext cx="18940403" cy="6184892"/>
          </a:xfrm>
        </p:spPr>
        <p:txBody>
          <a:bodyPr anchor="b"/>
          <a:lstStyle>
            <a:lvl1pPr>
              <a:defRPr sz="130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8306" y="9950214"/>
            <a:ext cx="18940403" cy="3252489"/>
          </a:xfrm>
        </p:spPr>
        <p:txBody>
          <a:bodyPr/>
          <a:lstStyle>
            <a:lvl1pPr marL="0" indent="0">
              <a:buNone/>
              <a:defRPr sz="5203">
                <a:solidFill>
                  <a:schemeClr val="tx1">
                    <a:tint val="82000"/>
                  </a:schemeClr>
                </a:solidFill>
              </a:defRPr>
            </a:lvl1pPr>
            <a:lvl2pPr marL="991255" indent="0">
              <a:buNone/>
              <a:defRPr sz="4336">
                <a:solidFill>
                  <a:schemeClr val="tx1">
                    <a:tint val="82000"/>
                  </a:schemeClr>
                </a:solidFill>
              </a:defRPr>
            </a:lvl2pPr>
            <a:lvl3pPr marL="1982511" indent="0">
              <a:buNone/>
              <a:defRPr sz="3903">
                <a:solidFill>
                  <a:schemeClr val="tx1">
                    <a:tint val="82000"/>
                  </a:schemeClr>
                </a:solidFill>
              </a:defRPr>
            </a:lvl3pPr>
            <a:lvl4pPr marL="2973766" indent="0">
              <a:buNone/>
              <a:defRPr sz="3469">
                <a:solidFill>
                  <a:schemeClr val="tx1">
                    <a:tint val="82000"/>
                  </a:schemeClr>
                </a:solidFill>
              </a:defRPr>
            </a:lvl4pPr>
            <a:lvl5pPr marL="3965021" indent="0">
              <a:buNone/>
              <a:defRPr sz="3469">
                <a:solidFill>
                  <a:schemeClr val="tx1">
                    <a:tint val="82000"/>
                  </a:schemeClr>
                </a:solidFill>
              </a:defRPr>
            </a:lvl5pPr>
            <a:lvl6pPr marL="4956277" indent="0">
              <a:buNone/>
              <a:defRPr sz="3469">
                <a:solidFill>
                  <a:schemeClr val="tx1">
                    <a:tint val="82000"/>
                  </a:schemeClr>
                </a:solidFill>
              </a:defRPr>
            </a:lvl6pPr>
            <a:lvl7pPr marL="5947532" indent="0">
              <a:buNone/>
              <a:defRPr sz="3469">
                <a:solidFill>
                  <a:schemeClr val="tx1">
                    <a:tint val="82000"/>
                  </a:schemeClr>
                </a:solidFill>
              </a:defRPr>
            </a:lvl7pPr>
            <a:lvl8pPr marL="6938787" indent="0">
              <a:buNone/>
              <a:defRPr sz="3469">
                <a:solidFill>
                  <a:schemeClr val="tx1">
                    <a:tint val="82000"/>
                  </a:schemeClr>
                </a:solidFill>
              </a:defRPr>
            </a:lvl8pPr>
            <a:lvl9pPr marL="7930043" indent="0">
              <a:buNone/>
              <a:defRPr sz="346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0E2AC-1663-45EB-B51E-A9B0A34676B3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62771-E6D6-441A-8609-037CAAE626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7000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9743" y="3958056"/>
            <a:ext cx="9332952" cy="94339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17194" y="3958056"/>
            <a:ext cx="9332952" cy="94339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0E2AC-1663-45EB-B51E-A9B0A34676B3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62771-E6D6-441A-8609-037CAAE626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084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603" y="791615"/>
            <a:ext cx="18940403" cy="28738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2605" y="3644855"/>
            <a:ext cx="9290060" cy="1786287"/>
          </a:xfrm>
        </p:spPr>
        <p:txBody>
          <a:bodyPr anchor="b"/>
          <a:lstStyle>
            <a:lvl1pPr marL="0" indent="0">
              <a:buNone/>
              <a:defRPr sz="5203" b="1"/>
            </a:lvl1pPr>
            <a:lvl2pPr marL="991255" indent="0">
              <a:buNone/>
              <a:defRPr sz="4336" b="1"/>
            </a:lvl2pPr>
            <a:lvl3pPr marL="1982511" indent="0">
              <a:buNone/>
              <a:defRPr sz="3903" b="1"/>
            </a:lvl3pPr>
            <a:lvl4pPr marL="2973766" indent="0">
              <a:buNone/>
              <a:defRPr sz="3469" b="1"/>
            </a:lvl4pPr>
            <a:lvl5pPr marL="3965021" indent="0">
              <a:buNone/>
              <a:defRPr sz="3469" b="1"/>
            </a:lvl5pPr>
            <a:lvl6pPr marL="4956277" indent="0">
              <a:buNone/>
              <a:defRPr sz="3469" b="1"/>
            </a:lvl6pPr>
            <a:lvl7pPr marL="5947532" indent="0">
              <a:buNone/>
              <a:defRPr sz="3469" b="1"/>
            </a:lvl7pPr>
            <a:lvl8pPr marL="6938787" indent="0">
              <a:buNone/>
              <a:defRPr sz="3469" b="1"/>
            </a:lvl8pPr>
            <a:lvl9pPr marL="7930043" indent="0">
              <a:buNone/>
              <a:defRPr sz="346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2605" y="5431142"/>
            <a:ext cx="9290060" cy="79883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117194" y="3644855"/>
            <a:ext cx="9335813" cy="1786287"/>
          </a:xfrm>
        </p:spPr>
        <p:txBody>
          <a:bodyPr anchor="b"/>
          <a:lstStyle>
            <a:lvl1pPr marL="0" indent="0">
              <a:buNone/>
              <a:defRPr sz="5203" b="1"/>
            </a:lvl1pPr>
            <a:lvl2pPr marL="991255" indent="0">
              <a:buNone/>
              <a:defRPr sz="4336" b="1"/>
            </a:lvl2pPr>
            <a:lvl3pPr marL="1982511" indent="0">
              <a:buNone/>
              <a:defRPr sz="3903" b="1"/>
            </a:lvl3pPr>
            <a:lvl4pPr marL="2973766" indent="0">
              <a:buNone/>
              <a:defRPr sz="3469" b="1"/>
            </a:lvl4pPr>
            <a:lvl5pPr marL="3965021" indent="0">
              <a:buNone/>
              <a:defRPr sz="3469" b="1"/>
            </a:lvl5pPr>
            <a:lvl6pPr marL="4956277" indent="0">
              <a:buNone/>
              <a:defRPr sz="3469" b="1"/>
            </a:lvl6pPr>
            <a:lvl7pPr marL="5947532" indent="0">
              <a:buNone/>
              <a:defRPr sz="3469" b="1"/>
            </a:lvl7pPr>
            <a:lvl8pPr marL="6938787" indent="0">
              <a:buNone/>
              <a:defRPr sz="3469" b="1"/>
            </a:lvl8pPr>
            <a:lvl9pPr marL="7930043" indent="0">
              <a:buNone/>
              <a:defRPr sz="346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117194" y="5431142"/>
            <a:ext cx="9335813" cy="79883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0E2AC-1663-45EB-B51E-A9B0A34676B3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62771-E6D6-441A-8609-037CAAE626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629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0E2AC-1663-45EB-B51E-A9B0A34676B3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62771-E6D6-441A-8609-037CAAE626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8230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0E2AC-1663-45EB-B51E-A9B0A34676B3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62771-E6D6-441A-8609-037CAAE626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554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603" y="991235"/>
            <a:ext cx="7082635" cy="3469323"/>
          </a:xfrm>
        </p:spPr>
        <p:txBody>
          <a:bodyPr anchor="b"/>
          <a:lstStyle>
            <a:lvl1pPr>
              <a:defRPr sz="693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35813" y="2140795"/>
            <a:ext cx="11117193" cy="10566290"/>
          </a:xfrm>
        </p:spPr>
        <p:txBody>
          <a:bodyPr/>
          <a:lstStyle>
            <a:lvl1pPr>
              <a:defRPr sz="6938"/>
            </a:lvl1pPr>
            <a:lvl2pPr>
              <a:defRPr sz="6071"/>
            </a:lvl2pPr>
            <a:lvl3pPr>
              <a:defRPr sz="5203"/>
            </a:lvl3pPr>
            <a:lvl4pPr>
              <a:defRPr sz="4336"/>
            </a:lvl4pPr>
            <a:lvl5pPr>
              <a:defRPr sz="4336"/>
            </a:lvl5pPr>
            <a:lvl6pPr>
              <a:defRPr sz="4336"/>
            </a:lvl6pPr>
            <a:lvl7pPr>
              <a:defRPr sz="4336"/>
            </a:lvl7pPr>
            <a:lvl8pPr>
              <a:defRPr sz="4336"/>
            </a:lvl8pPr>
            <a:lvl9pPr>
              <a:defRPr sz="433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2603" y="4460557"/>
            <a:ext cx="7082635" cy="8263735"/>
          </a:xfrm>
        </p:spPr>
        <p:txBody>
          <a:bodyPr/>
          <a:lstStyle>
            <a:lvl1pPr marL="0" indent="0">
              <a:buNone/>
              <a:defRPr sz="3469"/>
            </a:lvl1pPr>
            <a:lvl2pPr marL="991255" indent="0">
              <a:buNone/>
              <a:defRPr sz="3035"/>
            </a:lvl2pPr>
            <a:lvl3pPr marL="1982511" indent="0">
              <a:buNone/>
              <a:defRPr sz="2602"/>
            </a:lvl3pPr>
            <a:lvl4pPr marL="2973766" indent="0">
              <a:buNone/>
              <a:defRPr sz="2168"/>
            </a:lvl4pPr>
            <a:lvl5pPr marL="3965021" indent="0">
              <a:buNone/>
              <a:defRPr sz="2168"/>
            </a:lvl5pPr>
            <a:lvl6pPr marL="4956277" indent="0">
              <a:buNone/>
              <a:defRPr sz="2168"/>
            </a:lvl6pPr>
            <a:lvl7pPr marL="5947532" indent="0">
              <a:buNone/>
              <a:defRPr sz="2168"/>
            </a:lvl7pPr>
            <a:lvl8pPr marL="6938787" indent="0">
              <a:buNone/>
              <a:defRPr sz="2168"/>
            </a:lvl8pPr>
            <a:lvl9pPr marL="7930043" indent="0">
              <a:buNone/>
              <a:defRPr sz="216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0E2AC-1663-45EB-B51E-A9B0A34676B3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62771-E6D6-441A-8609-037CAAE626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2286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603" y="991235"/>
            <a:ext cx="7082635" cy="3469323"/>
          </a:xfrm>
        </p:spPr>
        <p:txBody>
          <a:bodyPr anchor="b"/>
          <a:lstStyle>
            <a:lvl1pPr>
              <a:defRPr sz="693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335813" y="2140795"/>
            <a:ext cx="11117193" cy="10566290"/>
          </a:xfrm>
        </p:spPr>
        <p:txBody>
          <a:bodyPr anchor="t"/>
          <a:lstStyle>
            <a:lvl1pPr marL="0" indent="0">
              <a:buNone/>
              <a:defRPr sz="6938"/>
            </a:lvl1pPr>
            <a:lvl2pPr marL="991255" indent="0">
              <a:buNone/>
              <a:defRPr sz="6071"/>
            </a:lvl2pPr>
            <a:lvl3pPr marL="1982511" indent="0">
              <a:buNone/>
              <a:defRPr sz="5203"/>
            </a:lvl3pPr>
            <a:lvl4pPr marL="2973766" indent="0">
              <a:buNone/>
              <a:defRPr sz="4336"/>
            </a:lvl4pPr>
            <a:lvl5pPr marL="3965021" indent="0">
              <a:buNone/>
              <a:defRPr sz="4336"/>
            </a:lvl5pPr>
            <a:lvl6pPr marL="4956277" indent="0">
              <a:buNone/>
              <a:defRPr sz="4336"/>
            </a:lvl6pPr>
            <a:lvl7pPr marL="5947532" indent="0">
              <a:buNone/>
              <a:defRPr sz="4336"/>
            </a:lvl7pPr>
            <a:lvl8pPr marL="6938787" indent="0">
              <a:buNone/>
              <a:defRPr sz="4336"/>
            </a:lvl8pPr>
            <a:lvl9pPr marL="7930043" indent="0">
              <a:buNone/>
              <a:defRPr sz="433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2603" y="4460557"/>
            <a:ext cx="7082635" cy="8263735"/>
          </a:xfrm>
        </p:spPr>
        <p:txBody>
          <a:bodyPr/>
          <a:lstStyle>
            <a:lvl1pPr marL="0" indent="0">
              <a:buNone/>
              <a:defRPr sz="3469"/>
            </a:lvl1pPr>
            <a:lvl2pPr marL="991255" indent="0">
              <a:buNone/>
              <a:defRPr sz="3035"/>
            </a:lvl2pPr>
            <a:lvl3pPr marL="1982511" indent="0">
              <a:buNone/>
              <a:defRPr sz="2602"/>
            </a:lvl3pPr>
            <a:lvl4pPr marL="2973766" indent="0">
              <a:buNone/>
              <a:defRPr sz="2168"/>
            </a:lvl4pPr>
            <a:lvl5pPr marL="3965021" indent="0">
              <a:buNone/>
              <a:defRPr sz="2168"/>
            </a:lvl5pPr>
            <a:lvl6pPr marL="4956277" indent="0">
              <a:buNone/>
              <a:defRPr sz="2168"/>
            </a:lvl6pPr>
            <a:lvl7pPr marL="5947532" indent="0">
              <a:buNone/>
              <a:defRPr sz="2168"/>
            </a:lvl7pPr>
            <a:lvl8pPr marL="6938787" indent="0">
              <a:buNone/>
              <a:defRPr sz="2168"/>
            </a:lvl8pPr>
            <a:lvl9pPr marL="7930043" indent="0">
              <a:buNone/>
              <a:defRPr sz="216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0E2AC-1663-45EB-B51E-A9B0A34676B3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62771-E6D6-441A-8609-037CAAE626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596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0E2AC-1663-45EB-B51E-A9B0A34676B3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62771-E6D6-441A-8609-037CAAE626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041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715046" y="791611"/>
            <a:ext cx="4735101" cy="126003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09743" y="791611"/>
            <a:ext cx="13930804" cy="126003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0E2AC-1663-45EB-B51E-A9B0A34676B3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62771-E6D6-441A-8609-037CAAE626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3408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09743" y="791615"/>
            <a:ext cx="18940403" cy="28738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9743" y="3958056"/>
            <a:ext cx="18940403" cy="9433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09742" y="13780923"/>
            <a:ext cx="4940975" cy="7916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60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D0E2AC-1663-45EB-B51E-A9B0A34676B3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74213" y="13780923"/>
            <a:ext cx="7411462" cy="7916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60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09171" y="13780923"/>
            <a:ext cx="4940975" cy="7916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60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062771-E6D6-441A-8609-037CAAE626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0506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1982511" rtl="0" eaLnBrk="1" latinLnBrk="0" hangingPunct="1">
        <a:lnSpc>
          <a:spcPct val="90000"/>
        </a:lnSpc>
        <a:spcBef>
          <a:spcPct val="0"/>
        </a:spcBef>
        <a:buNone/>
        <a:defRPr sz="95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628" indent="-495628" algn="l" defTabSz="1982511" rtl="0" eaLnBrk="1" latinLnBrk="0" hangingPunct="1">
        <a:lnSpc>
          <a:spcPct val="90000"/>
        </a:lnSpc>
        <a:spcBef>
          <a:spcPts val="2168"/>
        </a:spcBef>
        <a:buFont typeface="Arial" panose="020B0604020202020204" pitchFamily="34" charset="0"/>
        <a:buChar char="•"/>
        <a:defRPr sz="6071" kern="1200">
          <a:solidFill>
            <a:schemeClr val="tx1"/>
          </a:solidFill>
          <a:latin typeface="+mn-lt"/>
          <a:ea typeface="+mn-ea"/>
          <a:cs typeface="+mn-cs"/>
        </a:defRPr>
      </a:lvl1pPr>
      <a:lvl2pPr marL="1486883" indent="-495628" algn="l" defTabSz="1982511" rtl="0" eaLnBrk="1" latinLnBrk="0" hangingPunct="1">
        <a:lnSpc>
          <a:spcPct val="90000"/>
        </a:lnSpc>
        <a:spcBef>
          <a:spcPts val="1084"/>
        </a:spcBef>
        <a:buFont typeface="Arial" panose="020B0604020202020204" pitchFamily="34" charset="0"/>
        <a:buChar char="•"/>
        <a:defRPr sz="5203" kern="1200">
          <a:solidFill>
            <a:schemeClr val="tx1"/>
          </a:solidFill>
          <a:latin typeface="+mn-lt"/>
          <a:ea typeface="+mn-ea"/>
          <a:cs typeface="+mn-cs"/>
        </a:defRPr>
      </a:lvl2pPr>
      <a:lvl3pPr marL="2478138" indent="-495628" algn="l" defTabSz="1982511" rtl="0" eaLnBrk="1" latinLnBrk="0" hangingPunct="1">
        <a:lnSpc>
          <a:spcPct val="90000"/>
        </a:lnSpc>
        <a:spcBef>
          <a:spcPts val="1084"/>
        </a:spcBef>
        <a:buFont typeface="Arial" panose="020B0604020202020204" pitchFamily="34" charset="0"/>
        <a:buChar char="•"/>
        <a:defRPr sz="4336" kern="1200">
          <a:solidFill>
            <a:schemeClr val="tx1"/>
          </a:solidFill>
          <a:latin typeface="+mn-lt"/>
          <a:ea typeface="+mn-ea"/>
          <a:cs typeface="+mn-cs"/>
        </a:defRPr>
      </a:lvl3pPr>
      <a:lvl4pPr marL="3469394" indent="-495628" algn="l" defTabSz="1982511" rtl="0" eaLnBrk="1" latinLnBrk="0" hangingPunct="1">
        <a:lnSpc>
          <a:spcPct val="90000"/>
        </a:lnSpc>
        <a:spcBef>
          <a:spcPts val="1084"/>
        </a:spcBef>
        <a:buFont typeface="Arial" panose="020B0604020202020204" pitchFamily="34" charset="0"/>
        <a:buChar char="•"/>
        <a:defRPr sz="3903" kern="1200">
          <a:solidFill>
            <a:schemeClr val="tx1"/>
          </a:solidFill>
          <a:latin typeface="+mn-lt"/>
          <a:ea typeface="+mn-ea"/>
          <a:cs typeface="+mn-cs"/>
        </a:defRPr>
      </a:lvl4pPr>
      <a:lvl5pPr marL="4460649" indent="-495628" algn="l" defTabSz="1982511" rtl="0" eaLnBrk="1" latinLnBrk="0" hangingPunct="1">
        <a:lnSpc>
          <a:spcPct val="90000"/>
        </a:lnSpc>
        <a:spcBef>
          <a:spcPts val="1084"/>
        </a:spcBef>
        <a:buFont typeface="Arial" panose="020B0604020202020204" pitchFamily="34" charset="0"/>
        <a:buChar char="•"/>
        <a:defRPr sz="3903" kern="1200">
          <a:solidFill>
            <a:schemeClr val="tx1"/>
          </a:solidFill>
          <a:latin typeface="+mn-lt"/>
          <a:ea typeface="+mn-ea"/>
          <a:cs typeface="+mn-cs"/>
        </a:defRPr>
      </a:lvl5pPr>
      <a:lvl6pPr marL="5451904" indent="-495628" algn="l" defTabSz="1982511" rtl="0" eaLnBrk="1" latinLnBrk="0" hangingPunct="1">
        <a:lnSpc>
          <a:spcPct val="90000"/>
        </a:lnSpc>
        <a:spcBef>
          <a:spcPts val="1084"/>
        </a:spcBef>
        <a:buFont typeface="Arial" panose="020B0604020202020204" pitchFamily="34" charset="0"/>
        <a:buChar char="•"/>
        <a:defRPr sz="3903" kern="1200">
          <a:solidFill>
            <a:schemeClr val="tx1"/>
          </a:solidFill>
          <a:latin typeface="+mn-lt"/>
          <a:ea typeface="+mn-ea"/>
          <a:cs typeface="+mn-cs"/>
        </a:defRPr>
      </a:lvl6pPr>
      <a:lvl7pPr marL="6443160" indent="-495628" algn="l" defTabSz="1982511" rtl="0" eaLnBrk="1" latinLnBrk="0" hangingPunct="1">
        <a:lnSpc>
          <a:spcPct val="90000"/>
        </a:lnSpc>
        <a:spcBef>
          <a:spcPts val="1084"/>
        </a:spcBef>
        <a:buFont typeface="Arial" panose="020B0604020202020204" pitchFamily="34" charset="0"/>
        <a:buChar char="•"/>
        <a:defRPr sz="3903" kern="1200">
          <a:solidFill>
            <a:schemeClr val="tx1"/>
          </a:solidFill>
          <a:latin typeface="+mn-lt"/>
          <a:ea typeface="+mn-ea"/>
          <a:cs typeface="+mn-cs"/>
        </a:defRPr>
      </a:lvl7pPr>
      <a:lvl8pPr marL="7434415" indent="-495628" algn="l" defTabSz="1982511" rtl="0" eaLnBrk="1" latinLnBrk="0" hangingPunct="1">
        <a:lnSpc>
          <a:spcPct val="90000"/>
        </a:lnSpc>
        <a:spcBef>
          <a:spcPts val="1084"/>
        </a:spcBef>
        <a:buFont typeface="Arial" panose="020B0604020202020204" pitchFamily="34" charset="0"/>
        <a:buChar char="•"/>
        <a:defRPr sz="3903" kern="1200">
          <a:solidFill>
            <a:schemeClr val="tx1"/>
          </a:solidFill>
          <a:latin typeface="+mn-lt"/>
          <a:ea typeface="+mn-ea"/>
          <a:cs typeface="+mn-cs"/>
        </a:defRPr>
      </a:lvl8pPr>
      <a:lvl9pPr marL="8425670" indent="-495628" algn="l" defTabSz="1982511" rtl="0" eaLnBrk="1" latinLnBrk="0" hangingPunct="1">
        <a:lnSpc>
          <a:spcPct val="90000"/>
        </a:lnSpc>
        <a:spcBef>
          <a:spcPts val="1084"/>
        </a:spcBef>
        <a:buFont typeface="Arial" panose="020B0604020202020204" pitchFamily="34" charset="0"/>
        <a:buChar char="•"/>
        <a:defRPr sz="390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82511" rtl="0" eaLnBrk="1" latinLnBrk="0" hangingPunct="1">
        <a:defRPr sz="3903" kern="1200">
          <a:solidFill>
            <a:schemeClr val="tx1"/>
          </a:solidFill>
          <a:latin typeface="+mn-lt"/>
          <a:ea typeface="+mn-ea"/>
          <a:cs typeface="+mn-cs"/>
        </a:defRPr>
      </a:lvl1pPr>
      <a:lvl2pPr marL="991255" algn="l" defTabSz="1982511" rtl="0" eaLnBrk="1" latinLnBrk="0" hangingPunct="1">
        <a:defRPr sz="3903" kern="1200">
          <a:solidFill>
            <a:schemeClr val="tx1"/>
          </a:solidFill>
          <a:latin typeface="+mn-lt"/>
          <a:ea typeface="+mn-ea"/>
          <a:cs typeface="+mn-cs"/>
        </a:defRPr>
      </a:lvl2pPr>
      <a:lvl3pPr marL="1982511" algn="l" defTabSz="1982511" rtl="0" eaLnBrk="1" latinLnBrk="0" hangingPunct="1">
        <a:defRPr sz="3903" kern="1200">
          <a:solidFill>
            <a:schemeClr val="tx1"/>
          </a:solidFill>
          <a:latin typeface="+mn-lt"/>
          <a:ea typeface="+mn-ea"/>
          <a:cs typeface="+mn-cs"/>
        </a:defRPr>
      </a:lvl3pPr>
      <a:lvl4pPr marL="2973766" algn="l" defTabSz="1982511" rtl="0" eaLnBrk="1" latinLnBrk="0" hangingPunct="1">
        <a:defRPr sz="3903" kern="1200">
          <a:solidFill>
            <a:schemeClr val="tx1"/>
          </a:solidFill>
          <a:latin typeface="+mn-lt"/>
          <a:ea typeface="+mn-ea"/>
          <a:cs typeface="+mn-cs"/>
        </a:defRPr>
      </a:lvl4pPr>
      <a:lvl5pPr marL="3965021" algn="l" defTabSz="1982511" rtl="0" eaLnBrk="1" latinLnBrk="0" hangingPunct="1">
        <a:defRPr sz="3903" kern="1200">
          <a:solidFill>
            <a:schemeClr val="tx1"/>
          </a:solidFill>
          <a:latin typeface="+mn-lt"/>
          <a:ea typeface="+mn-ea"/>
          <a:cs typeface="+mn-cs"/>
        </a:defRPr>
      </a:lvl5pPr>
      <a:lvl6pPr marL="4956277" algn="l" defTabSz="1982511" rtl="0" eaLnBrk="1" latinLnBrk="0" hangingPunct="1">
        <a:defRPr sz="3903" kern="1200">
          <a:solidFill>
            <a:schemeClr val="tx1"/>
          </a:solidFill>
          <a:latin typeface="+mn-lt"/>
          <a:ea typeface="+mn-ea"/>
          <a:cs typeface="+mn-cs"/>
        </a:defRPr>
      </a:lvl6pPr>
      <a:lvl7pPr marL="5947532" algn="l" defTabSz="1982511" rtl="0" eaLnBrk="1" latinLnBrk="0" hangingPunct="1">
        <a:defRPr sz="3903" kern="1200">
          <a:solidFill>
            <a:schemeClr val="tx1"/>
          </a:solidFill>
          <a:latin typeface="+mn-lt"/>
          <a:ea typeface="+mn-ea"/>
          <a:cs typeface="+mn-cs"/>
        </a:defRPr>
      </a:lvl7pPr>
      <a:lvl8pPr marL="6938787" algn="l" defTabSz="1982511" rtl="0" eaLnBrk="1" latinLnBrk="0" hangingPunct="1">
        <a:defRPr sz="3903" kern="1200">
          <a:solidFill>
            <a:schemeClr val="tx1"/>
          </a:solidFill>
          <a:latin typeface="+mn-lt"/>
          <a:ea typeface="+mn-ea"/>
          <a:cs typeface="+mn-cs"/>
        </a:defRPr>
      </a:lvl8pPr>
      <a:lvl9pPr marL="7930043" algn="l" defTabSz="1982511" rtl="0" eaLnBrk="1" latinLnBrk="0" hangingPunct="1">
        <a:defRPr sz="390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24" name="Straight Connector 2023">
            <a:extLst>
              <a:ext uri="{FF2B5EF4-FFF2-40B4-BE49-F238E27FC236}">
                <a16:creationId xmlns:a16="http://schemas.microsoft.com/office/drawing/2014/main" id="{8CC0836C-FF62-FB3B-4B1A-27F859AD2146}"/>
              </a:ext>
            </a:extLst>
          </p:cNvPr>
          <p:cNvCxnSpPr>
            <a:cxnSpLocks/>
          </p:cNvCxnSpPr>
          <p:nvPr/>
        </p:nvCxnSpPr>
        <p:spPr>
          <a:xfrm flipH="1">
            <a:off x="19632050" y="4824635"/>
            <a:ext cx="198221" cy="3740719"/>
          </a:xfrm>
          <a:prstGeom prst="line">
            <a:avLst/>
          </a:prstGeom>
          <a:ln w="904875">
            <a:solidFill>
              <a:srgbClr val="F7BFC4"/>
            </a:solidFill>
          </a:ln>
          <a:scene3d>
            <a:camera prst="isometricOffAxis2Top">
              <a:rot lat="3600000" lon="20400000" rev="20400000"/>
            </a:camera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E28A4D6B-E2F2-99DE-A594-77EA3E9621D5}"/>
              </a:ext>
            </a:extLst>
          </p:cNvPr>
          <p:cNvCxnSpPr>
            <a:cxnSpLocks/>
          </p:cNvCxnSpPr>
          <p:nvPr/>
        </p:nvCxnSpPr>
        <p:spPr>
          <a:xfrm flipH="1">
            <a:off x="17435950" y="3646176"/>
            <a:ext cx="912533" cy="6903593"/>
          </a:xfrm>
          <a:prstGeom prst="line">
            <a:avLst/>
          </a:prstGeom>
          <a:ln w="904875">
            <a:solidFill>
              <a:schemeClr val="accent2">
                <a:lumMod val="60000"/>
                <a:lumOff val="40000"/>
                <a:alpha val="64000"/>
              </a:schemeClr>
            </a:solidFill>
          </a:ln>
          <a:scene3d>
            <a:camera prst="isometricOffAxis2Top">
              <a:rot lat="4164560" lon="20739085" rev="20792013"/>
            </a:camera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Straight Connector 405">
            <a:extLst>
              <a:ext uri="{FF2B5EF4-FFF2-40B4-BE49-F238E27FC236}">
                <a16:creationId xmlns:a16="http://schemas.microsoft.com/office/drawing/2014/main" id="{F4735CF6-41BD-B7B7-9767-9CA9F84D41A3}"/>
              </a:ext>
            </a:extLst>
          </p:cNvPr>
          <p:cNvCxnSpPr>
            <a:cxnSpLocks/>
          </p:cNvCxnSpPr>
          <p:nvPr/>
        </p:nvCxnSpPr>
        <p:spPr>
          <a:xfrm flipH="1">
            <a:off x="3848517" y="3771176"/>
            <a:ext cx="3506876" cy="11997732"/>
          </a:xfrm>
          <a:prstGeom prst="line">
            <a:avLst/>
          </a:prstGeom>
          <a:ln w="863600">
            <a:solidFill>
              <a:srgbClr val="FAEAA8"/>
            </a:solidFill>
          </a:ln>
          <a:scene3d>
            <a:camera prst="isometricOffAxis2Top">
              <a:rot lat="3000000" lon="19800000" rev="20400000"/>
            </a:camera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6134F681-7C4D-C110-8FD8-156B9F2969F2}"/>
              </a:ext>
            </a:extLst>
          </p:cNvPr>
          <p:cNvCxnSpPr>
            <a:cxnSpLocks/>
          </p:cNvCxnSpPr>
          <p:nvPr/>
        </p:nvCxnSpPr>
        <p:spPr>
          <a:xfrm flipH="1">
            <a:off x="5637125" y="3891758"/>
            <a:ext cx="3305908" cy="11284299"/>
          </a:xfrm>
          <a:prstGeom prst="line">
            <a:avLst/>
          </a:prstGeom>
          <a:ln w="857250">
            <a:solidFill>
              <a:srgbClr val="86E2AD">
                <a:alpha val="56000"/>
              </a:srgbClr>
            </a:solidFill>
          </a:ln>
          <a:scene3d>
            <a:camera prst="isometricOffAxis2Top">
              <a:rot lat="3000000" lon="19800000" rev="20400000"/>
            </a:camera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F7965ADE-2789-FD75-8C8E-B42C50F5FD30}"/>
              </a:ext>
            </a:extLst>
          </p:cNvPr>
          <p:cNvCxnSpPr>
            <a:cxnSpLocks/>
          </p:cNvCxnSpPr>
          <p:nvPr/>
        </p:nvCxnSpPr>
        <p:spPr>
          <a:xfrm flipH="1">
            <a:off x="7797523" y="4102773"/>
            <a:ext cx="2763297" cy="10078497"/>
          </a:xfrm>
          <a:prstGeom prst="line">
            <a:avLst/>
          </a:prstGeom>
          <a:ln w="857250">
            <a:solidFill>
              <a:srgbClr val="DDB5E1"/>
            </a:solidFill>
          </a:ln>
          <a:scene3d>
            <a:camera prst="isometricOffAxis2Top">
              <a:rot lat="3000000" lon="19800000" rev="20400000"/>
            </a:camera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1752AC51-2017-B328-F336-8F6FC089D577}"/>
              </a:ext>
            </a:extLst>
          </p:cNvPr>
          <p:cNvCxnSpPr>
            <a:cxnSpLocks/>
          </p:cNvCxnSpPr>
          <p:nvPr/>
        </p:nvCxnSpPr>
        <p:spPr>
          <a:xfrm flipH="1">
            <a:off x="10038305" y="4364029"/>
            <a:ext cx="2180493" cy="8470760"/>
          </a:xfrm>
          <a:prstGeom prst="line">
            <a:avLst/>
          </a:prstGeom>
          <a:ln w="857250">
            <a:solidFill>
              <a:schemeClr val="accent2">
                <a:lumMod val="60000"/>
                <a:lumOff val="40000"/>
                <a:alpha val="76000"/>
              </a:schemeClr>
            </a:solidFill>
          </a:ln>
          <a:scene3d>
            <a:camera prst="isometricOffAxis2Top">
              <a:rot lat="3000000" lon="19800000" rev="20400000"/>
            </a:camera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D5B7F5B7-D621-05FE-D0DE-D56236BA27EF}"/>
              </a:ext>
            </a:extLst>
          </p:cNvPr>
          <p:cNvCxnSpPr>
            <a:cxnSpLocks/>
          </p:cNvCxnSpPr>
          <p:nvPr/>
        </p:nvCxnSpPr>
        <p:spPr>
          <a:xfrm flipH="1">
            <a:off x="11796767" y="4444417"/>
            <a:ext cx="1969477" cy="7777425"/>
          </a:xfrm>
          <a:prstGeom prst="line">
            <a:avLst/>
          </a:prstGeom>
          <a:ln w="857250">
            <a:solidFill>
              <a:srgbClr val="B6BFE4"/>
            </a:solidFill>
          </a:ln>
          <a:scene3d>
            <a:camera prst="isometricOffAxis2Top">
              <a:rot lat="3000000" lon="19800000" rev="20400000"/>
            </a:camera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019E4758-9BA7-B4C5-4C23-709D438DF52F}"/>
              </a:ext>
            </a:extLst>
          </p:cNvPr>
          <p:cNvCxnSpPr>
            <a:cxnSpLocks/>
          </p:cNvCxnSpPr>
          <p:nvPr/>
        </p:nvCxnSpPr>
        <p:spPr>
          <a:xfrm flipH="1">
            <a:off x="13605468" y="4153013"/>
            <a:ext cx="1949380" cy="7365442"/>
          </a:xfrm>
          <a:prstGeom prst="line">
            <a:avLst/>
          </a:prstGeom>
          <a:ln w="857250">
            <a:solidFill>
              <a:srgbClr val="A5E5CE"/>
            </a:solidFill>
          </a:ln>
          <a:scene3d>
            <a:camera prst="isometricOffAxis2Top">
              <a:rot lat="3000000" lon="19800000" rev="20400000"/>
            </a:camera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01698B55-F791-096A-E865-B6B0CB9A814D}"/>
              </a:ext>
            </a:extLst>
          </p:cNvPr>
          <p:cNvCxnSpPr>
            <a:cxnSpLocks/>
          </p:cNvCxnSpPr>
          <p:nvPr/>
        </p:nvCxnSpPr>
        <p:spPr>
          <a:xfrm flipH="1">
            <a:off x="15471058" y="2988117"/>
            <a:ext cx="1505336" cy="8987573"/>
          </a:xfrm>
          <a:prstGeom prst="line">
            <a:avLst/>
          </a:prstGeom>
          <a:ln w="904875">
            <a:solidFill>
              <a:schemeClr val="accent6">
                <a:lumMod val="40000"/>
                <a:lumOff val="60000"/>
                <a:alpha val="68000"/>
              </a:schemeClr>
            </a:solidFill>
          </a:ln>
          <a:scene3d>
            <a:camera prst="isometricOffAxis2Top">
              <a:rot lat="4164560" lon="20739085" rev="20792013"/>
            </a:camera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BDBC98CE-181E-1D12-6CC7-7BCEA86482F6}"/>
              </a:ext>
            </a:extLst>
          </p:cNvPr>
          <p:cNvCxnSpPr>
            <a:cxnSpLocks/>
          </p:cNvCxnSpPr>
          <p:nvPr/>
        </p:nvCxnSpPr>
        <p:spPr>
          <a:xfrm flipH="1">
            <a:off x="6527800" y="8071940"/>
            <a:ext cx="12236453" cy="0"/>
          </a:xfrm>
          <a:prstGeom prst="line">
            <a:avLst/>
          </a:prstGeom>
          <a:ln w="50800">
            <a:solidFill>
              <a:srgbClr val="FADADD"/>
            </a:solidFill>
            <a:prstDash val="lgDashDot"/>
          </a:ln>
          <a:scene3d>
            <a:camera prst="orthographicFront">
              <a:rot lat="600000" lon="600000" rev="0"/>
            </a:camera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ube 21">
            <a:extLst>
              <a:ext uri="{FF2B5EF4-FFF2-40B4-BE49-F238E27FC236}">
                <a16:creationId xmlns:a16="http://schemas.microsoft.com/office/drawing/2014/main" id="{AD8FFE0C-7778-2521-9162-6B8007561A2F}"/>
              </a:ext>
            </a:extLst>
          </p:cNvPr>
          <p:cNvSpPr/>
          <p:nvPr/>
        </p:nvSpPr>
        <p:spPr>
          <a:xfrm>
            <a:off x="1503522" y="6242194"/>
            <a:ext cx="737919" cy="9588616"/>
          </a:xfrm>
          <a:prstGeom prst="cube">
            <a:avLst>
              <a:gd name="adj" fmla="val 96509"/>
            </a:avLst>
          </a:prstGeom>
          <a:solidFill>
            <a:srgbClr val="F9E79F">
              <a:alpha val="61000"/>
            </a:srgbClr>
          </a:solidFill>
          <a:ln>
            <a:noFill/>
          </a:ln>
          <a:scene3d>
            <a:camera prst="isometricOffAxis2Right">
              <a:rot lat="3000000" lon="19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en-GB" dirty="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1FF3B526-A4F3-6D22-DBB0-402B0ACFFD94}"/>
              </a:ext>
            </a:extLst>
          </p:cNvPr>
          <p:cNvSpPr/>
          <p:nvPr/>
        </p:nvSpPr>
        <p:spPr>
          <a:xfrm>
            <a:off x="18518335" y="7515738"/>
            <a:ext cx="2198155" cy="787018"/>
          </a:xfrm>
          <a:prstGeom prst="cube">
            <a:avLst>
              <a:gd name="adj" fmla="val 54527"/>
            </a:avLst>
          </a:prstGeom>
          <a:solidFill>
            <a:srgbClr val="FADADD"/>
          </a:solidFill>
          <a:ln>
            <a:noFill/>
          </a:ln>
          <a:scene3d>
            <a:camera prst="orthographicFront">
              <a:rot lat="597694" lon="600000" rev="5282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049AB3DC-8379-D5B1-E6C2-36BB750FCDD8}"/>
              </a:ext>
            </a:extLst>
          </p:cNvPr>
          <p:cNvSpPr/>
          <p:nvPr/>
        </p:nvSpPr>
        <p:spPr>
          <a:xfrm>
            <a:off x="16415580" y="8264218"/>
            <a:ext cx="3924897" cy="787018"/>
          </a:xfrm>
          <a:prstGeom prst="cube">
            <a:avLst>
              <a:gd name="adj" fmla="val 54527"/>
            </a:avLst>
          </a:prstGeom>
          <a:solidFill>
            <a:srgbClr val="FBE7C6">
              <a:alpha val="85882"/>
            </a:srgbClr>
          </a:solidFill>
          <a:ln>
            <a:noFill/>
          </a:ln>
          <a:scene3d>
            <a:camera prst="orthographicFront">
              <a:rot lat="597694" lon="600000" rev="5282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E0839B28-C28A-BDBF-1300-195F57157AC0}"/>
              </a:ext>
            </a:extLst>
          </p:cNvPr>
          <p:cNvSpPr/>
          <p:nvPr/>
        </p:nvSpPr>
        <p:spPr>
          <a:xfrm>
            <a:off x="14281413" y="8965950"/>
            <a:ext cx="5724082" cy="911601"/>
          </a:xfrm>
          <a:prstGeom prst="cube">
            <a:avLst>
              <a:gd name="adj" fmla="val 60999"/>
            </a:avLst>
          </a:prstGeom>
          <a:solidFill>
            <a:srgbClr val="E2F0CB"/>
          </a:solidFill>
          <a:ln>
            <a:noFill/>
          </a:ln>
          <a:scene3d>
            <a:camera prst="orthographicFront">
              <a:rot lat="597694" lon="600000" rev="5282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96B195DF-F1CB-CB47-08F4-F2BA4FAA6FAF}"/>
              </a:ext>
            </a:extLst>
          </p:cNvPr>
          <p:cNvSpPr/>
          <p:nvPr/>
        </p:nvSpPr>
        <p:spPr>
          <a:xfrm>
            <a:off x="12423899" y="9841479"/>
            <a:ext cx="7107001" cy="787018"/>
          </a:xfrm>
          <a:prstGeom prst="cube">
            <a:avLst>
              <a:gd name="adj" fmla="val 52249"/>
            </a:avLst>
          </a:prstGeom>
          <a:solidFill>
            <a:srgbClr val="B5EAD7"/>
          </a:solidFill>
          <a:ln>
            <a:noFill/>
          </a:ln>
          <a:scene3d>
            <a:camera prst="orthographicFront">
              <a:rot lat="597694" lon="600000" rev="5282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BD30D080-4126-3DBE-1AFA-ED6990ED9957}"/>
              </a:ext>
            </a:extLst>
          </p:cNvPr>
          <p:cNvSpPr/>
          <p:nvPr/>
        </p:nvSpPr>
        <p:spPr>
          <a:xfrm>
            <a:off x="10371812" y="10607063"/>
            <a:ext cx="8775131" cy="787018"/>
          </a:xfrm>
          <a:prstGeom prst="cube">
            <a:avLst>
              <a:gd name="adj" fmla="val 54526"/>
            </a:avLst>
          </a:prstGeom>
          <a:solidFill>
            <a:srgbClr val="C7CEEA"/>
          </a:solidFill>
          <a:ln>
            <a:noFill/>
          </a:ln>
          <a:scene3d>
            <a:camera prst="orthographicFront">
              <a:rot lat="597694" lon="600000" rev="5282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75D15F7A-9142-8C2E-5E78-887E3E759C32}"/>
              </a:ext>
            </a:extLst>
          </p:cNvPr>
          <p:cNvSpPr/>
          <p:nvPr/>
        </p:nvSpPr>
        <p:spPr>
          <a:xfrm>
            <a:off x="8246344" y="11375304"/>
            <a:ext cx="10451040" cy="787018"/>
          </a:xfrm>
          <a:prstGeom prst="cube">
            <a:avLst>
              <a:gd name="adj" fmla="val 56805"/>
            </a:avLst>
          </a:prstGeom>
          <a:solidFill>
            <a:srgbClr val="FFDAC1"/>
          </a:solidFill>
          <a:ln>
            <a:noFill/>
          </a:ln>
          <a:scene3d>
            <a:camera prst="orthographicFront">
              <a:rot lat="597694" lon="600000" rev="5282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3" name="Cube 12">
            <a:extLst>
              <a:ext uri="{FF2B5EF4-FFF2-40B4-BE49-F238E27FC236}">
                <a16:creationId xmlns:a16="http://schemas.microsoft.com/office/drawing/2014/main" id="{E97C8C54-7956-C6C7-EF1D-61EBA38C8773}"/>
              </a:ext>
            </a:extLst>
          </p:cNvPr>
          <p:cNvSpPr/>
          <p:nvPr/>
        </p:nvSpPr>
        <p:spPr>
          <a:xfrm>
            <a:off x="6166534" y="12137274"/>
            <a:ext cx="12124975" cy="787018"/>
          </a:xfrm>
          <a:prstGeom prst="cube">
            <a:avLst>
              <a:gd name="adj" fmla="val 56805"/>
            </a:avLst>
          </a:prstGeom>
          <a:solidFill>
            <a:srgbClr val="E0BBE4"/>
          </a:solidFill>
          <a:ln>
            <a:noFill/>
          </a:ln>
          <a:scene3d>
            <a:camera prst="orthographicFront">
              <a:rot lat="597694" lon="600000" rev="5282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7FF28690-0DF6-1BCA-A902-D8974375B082}"/>
              </a:ext>
            </a:extLst>
          </p:cNvPr>
          <p:cNvSpPr/>
          <p:nvPr/>
        </p:nvSpPr>
        <p:spPr>
          <a:xfrm>
            <a:off x="3884635" y="12899988"/>
            <a:ext cx="13985332" cy="787018"/>
          </a:xfrm>
          <a:prstGeom prst="cube">
            <a:avLst>
              <a:gd name="adj" fmla="val 61361"/>
            </a:avLst>
          </a:prstGeom>
          <a:solidFill>
            <a:srgbClr val="D5F5E3"/>
          </a:solidFill>
          <a:ln>
            <a:noFill/>
          </a:ln>
          <a:scene3d>
            <a:camera prst="orthographicFront">
              <a:rot lat="597694" lon="600000" rev="5282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5" name="Cube 14">
            <a:extLst>
              <a:ext uri="{FF2B5EF4-FFF2-40B4-BE49-F238E27FC236}">
                <a16:creationId xmlns:a16="http://schemas.microsoft.com/office/drawing/2014/main" id="{514A4F7C-9019-FC7F-5391-E570F9B5FD22}"/>
              </a:ext>
            </a:extLst>
          </p:cNvPr>
          <p:cNvSpPr/>
          <p:nvPr/>
        </p:nvSpPr>
        <p:spPr>
          <a:xfrm>
            <a:off x="1596415" y="13646766"/>
            <a:ext cx="15855402" cy="787018"/>
          </a:xfrm>
          <a:prstGeom prst="cube">
            <a:avLst>
              <a:gd name="adj" fmla="val 63640"/>
            </a:avLst>
          </a:prstGeom>
          <a:solidFill>
            <a:srgbClr val="F9E79F">
              <a:alpha val="71765"/>
            </a:srgbClr>
          </a:solidFill>
          <a:ln>
            <a:noFill/>
          </a:ln>
          <a:scene3d>
            <a:camera prst="orthographicFront">
              <a:rot lat="597694" lon="600000" rev="5282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40" name="Cube 139">
            <a:extLst>
              <a:ext uri="{FF2B5EF4-FFF2-40B4-BE49-F238E27FC236}">
                <a16:creationId xmlns:a16="http://schemas.microsoft.com/office/drawing/2014/main" id="{07D8371B-5B33-62B0-DA7C-C7C3EE16586D}"/>
              </a:ext>
            </a:extLst>
          </p:cNvPr>
          <p:cNvSpPr/>
          <p:nvPr/>
        </p:nvSpPr>
        <p:spPr>
          <a:xfrm>
            <a:off x="2171781" y="6022575"/>
            <a:ext cx="737768" cy="8892330"/>
          </a:xfrm>
          <a:prstGeom prst="cube">
            <a:avLst>
              <a:gd name="adj" fmla="val 96552"/>
            </a:avLst>
          </a:prstGeom>
          <a:solidFill>
            <a:srgbClr val="D5F5E3">
              <a:alpha val="61000"/>
            </a:srgbClr>
          </a:solidFill>
          <a:ln>
            <a:noFill/>
          </a:ln>
          <a:scene3d>
            <a:camera prst="isometricOffAxis2Right">
              <a:rot lat="3000000" lon="19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E5E9F69F-FB14-5554-1585-8372C8DC5731}"/>
              </a:ext>
            </a:extLst>
          </p:cNvPr>
          <p:cNvSpPr/>
          <p:nvPr/>
        </p:nvSpPr>
        <p:spPr>
          <a:xfrm>
            <a:off x="2812887" y="3119158"/>
            <a:ext cx="731557" cy="11451964"/>
          </a:xfrm>
          <a:prstGeom prst="cube">
            <a:avLst>
              <a:gd name="adj" fmla="val 96552"/>
            </a:avLst>
          </a:prstGeom>
          <a:solidFill>
            <a:srgbClr val="E0BBE4">
              <a:alpha val="61000"/>
            </a:srgbClr>
          </a:solidFill>
          <a:ln>
            <a:noFill/>
          </a:ln>
          <a:scene3d>
            <a:camera prst="isometricOffAxis2Right">
              <a:rot lat="3000000" lon="19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98DC3854-E6D5-6449-51A5-F77DE5FC4946}"/>
              </a:ext>
            </a:extLst>
          </p:cNvPr>
          <p:cNvSpPr/>
          <p:nvPr/>
        </p:nvSpPr>
        <p:spPr>
          <a:xfrm>
            <a:off x="3441557" y="6440556"/>
            <a:ext cx="731557" cy="6471341"/>
          </a:xfrm>
          <a:prstGeom prst="cube">
            <a:avLst>
              <a:gd name="adj" fmla="val 96552"/>
            </a:avLst>
          </a:prstGeom>
          <a:solidFill>
            <a:srgbClr val="FFDAC1">
              <a:alpha val="61000"/>
            </a:srgbClr>
          </a:solidFill>
          <a:ln>
            <a:noFill/>
          </a:ln>
          <a:scene3d>
            <a:camera prst="isometricOffAxis2Right">
              <a:rot lat="3000000" lon="19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64976BF9-28F7-3B6D-48EC-A6E8F43C7DAF}"/>
              </a:ext>
            </a:extLst>
          </p:cNvPr>
          <p:cNvSpPr/>
          <p:nvPr/>
        </p:nvSpPr>
        <p:spPr>
          <a:xfrm>
            <a:off x="4081281" y="1451112"/>
            <a:ext cx="731557" cy="11598801"/>
          </a:xfrm>
          <a:prstGeom prst="cube">
            <a:avLst>
              <a:gd name="adj" fmla="val 96552"/>
            </a:avLst>
          </a:prstGeom>
          <a:solidFill>
            <a:srgbClr val="C7CEEA">
              <a:alpha val="61000"/>
            </a:srgbClr>
          </a:solidFill>
          <a:ln>
            <a:noFill/>
          </a:ln>
          <a:scene3d>
            <a:camera prst="isometricOffAxis2Right">
              <a:rot lat="3000000" lon="19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4C82DFC0-C45C-3BAA-3620-CFD4350B074F}"/>
              </a:ext>
            </a:extLst>
          </p:cNvPr>
          <p:cNvSpPr/>
          <p:nvPr/>
        </p:nvSpPr>
        <p:spPr>
          <a:xfrm>
            <a:off x="4708807" y="1400177"/>
            <a:ext cx="727025" cy="10698928"/>
          </a:xfrm>
          <a:prstGeom prst="cube">
            <a:avLst>
              <a:gd name="adj" fmla="val 96552"/>
            </a:avLst>
          </a:prstGeom>
          <a:solidFill>
            <a:srgbClr val="B5EAD7">
              <a:alpha val="61000"/>
            </a:srgbClr>
          </a:solidFill>
          <a:ln>
            <a:noFill/>
          </a:ln>
          <a:scene3d>
            <a:camera prst="isometricOffAxis2Right">
              <a:rot lat="3000000" lon="19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4" name="Cube 163">
            <a:extLst>
              <a:ext uri="{FF2B5EF4-FFF2-40B4-BE49-F238E27FC236}">
                <a16:creationId xmlns:a16="http://schemas.microsoft.com/office/drawing/2014/main" id="{777E7D59-0E39-4785-9AD8-D1A151E7F3CF}"/>
              </a:ext>
            </a:extLst>
          </p:cNvPr>
          <p:cNvSpPr/>
          <p:nvPr/>
        </p:nvSpPr>
        <p:spPr>
          <a:xfrm>
            <a:off x="5349408" y="1120263"/>
            <a:ext cx="727026" cy="10046088"/>
          </a:xfrm>
          <a:prstGeom prst="cube">
            <a:avLst>
              <a:gd name="adj" fmla="val 96552"/>
            </a:avLst>
          </a:prstGeom>
          <a:solidFill>
            <a:srgbClr val="E2F0CB">
              <a:alpha val="71000"/>
            </a:srgbClr>
          </a:solidFill>
          <a:ln>
            <a:noFill/>
          </a:ln>
          <a:scene3d>
            <a:camera prst="isometricOffAxis2Right">
              <a:rot lat="3000000" lon="19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6DFDF2DF-D77B-30A2-6520-67FE7BAB4564}"/>
              </a:ext>
            </a:extLst>
          </p:cNvPr>
          <p:cNvSpPr/>
          <p:nvPr/>
        </p:nvSpPr>
        <p:spPr>
          <a:xfrm>
            <a:off x="5971191" y="384530"/>
            <a:ext cx="726299" cy="9999233"/>
          </a:xfrm>
          <a:prstGeom prst="cube">
            <a:avLst>
              <a:gd name="adj" fmla="val 96552"/>
            </a:avLst>
          </a:prstGeom>
          <a:solidFill>
            <a:srgbClr val="FBE7C6">
              <a:alpha val="69000"/>
            </a:srgbClr>
          </a:solidFill>
          <a:ln>
            <a:noFill/>
          </a:ln>
          <a:scene3d>
            <a:camera prst="isometricOffAxis2Right">
              <a:rot lat="3000000" lon="19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A9E5836A-9DEC-579A-49AC-62436DD2972A}"/>
              </a:ext>
            </a:extLst>
          </p:cNvPr>
          <p:cNvCxnSpPr>
            <a:cxnSpLocks/>
          </p:cNvCxnSpPr>
          <p:nvPr/>
        </p:nvCxnSpPr>
        <p:spPr>
          <a:xfrm flipH="1">
            <a:off x="5943600" y="8759179"/>
            <a:ext cx="10600796" cy="92721"/>
          </a:xfrm>
          <a:prstGeom prst="line">
            <a:avLst/>
          </a:prstGeom>
          <a:ln w="47625">
            <a:solidFill>
              <a:srgbClr val="FFDAC1"/>
            </a:solidFill>
            <a:prstDash val="lgDashDot"/>
          </a:ln>
          <a:scene3d>
            <a:camera prst="orthographicFront">
              <a:rot lat="600000" lon="600000" rev="0"/>
            </a:camera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010C2971-0BEC-EFD6-65D7-0C97BBDEA495}"/>
              </a:ext>
            </a:extLst>
          </p:cNvPr>
          <p:cNvCxnSpPr>
            <a:cxnSpLocks/>
          </p:cNvCxnSpPr>
          <p:nvPr/>
        </p:nvCxnSpPr>
        <p:spPr>
          <a:xfrm flipH="1">
            <a:off x="5329533" y="9659021"/>
            <a:ext cx="9075507" cy="111967"/>
          </a:xfrm>
          <a:prstGeom prst="line">
            <a:avLst/>
          </a:prstGeom>
          <a:ln w="50800">
            <a:solidFill>
              <a:srgbClr val="DAECBE"/>
            </a:solidFill>
            <a:prstDash val="lgDashDot"/>
          </a:ln>
          <a:scene3d>
            <a:camera prst="orthographicFront">
              <a:rot lat="600000" lon="600000" rev="0"/>
            </a:camera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55DFA074-830C-87CA-9A76-709AA38804C3}"/>
              </a:ext>
            </a:extLst>
          </p:cNvPr>
          <p:cNvCxnSpPr>
            <a:cxnSpLocks/>
          </p:cNvCxnSpPr>
          <p:nvPr/>
        </p:nvCxnSpPr>
        <p:spPr>
          <a:xfrm flipH="1">
            <a:off x="4708807" y="10444841"/>
            <a:ext cx="7838839" cy="104926"/>
          </a:xfrm>
          <a:prstGeom prst="line">
            <a:avLst/>
          </a:prstGeom>
          <a:ln w="53975">
            <a:solidFill>
              <a:srgbClr val="D5F5E3"/>
            </a:solidFill>
            <a:prstDash val="lgDashDot"/>
          </a:ln>
          <a:scene3d>
            <a:camera prst="orthographicFront">
              <a:rot lat="600000" lon="600000" rev="0"/>
            </a:camera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2BDB8158-16BB-3D37-0147-1908528AD315}"/>
              </a:ext>
            </a:extLst>
          </p:cNvPr>
          <p:cNvCxnSpPr>
            <a:cxnSpLocks/>
          </p:cNvCxnSpPr>
          <p:nvPr/>
        </p:nvCxnSpPr>
        <p:spPr>
          <a:xfrm flipH="1">
            <a:off x="4100663" y="11221138"/>
            <a:ext cx="6427667" cy="31034"/>
          </a:xfrm>
          <a:prstGeom prst="line">
            <a:avLst/>
          </a:prstGeom>
          <a:ln w="47625">
            <a:solidFill>
              <a:srgbClr val="C7CEEA"/>
            </a:solidFill>
            <a:prstDash val="lgDashDot"/>
          </a:ln>
          <a:scene3d>
            <a:camera prst="orthographicFront">
              <a:rot lat="600000" lon="600000" rev="0"/>
            </a:camera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C2DB12AD-990F-7557-C59C-D8C377129652}"/>
              </a:ext>
            </a:extLst>
          </p:cNvPr>
          <p:cNvCxnSpPr>
            <a:cxnSpLocks/>
          </p:cNvCxnSpPr>
          <p:nvPr/>
        </p:nvCxnSpPr>
        <p:spPr>
          <a:xfrm flipH="1">
            <a:off x="3452965" y="11987905"/>
            <a:ext cx="4932220" cy="0"/>
          </a:xfrm>
          <a:prstGeom prst="line">
            <a:avLst/>
          </a:prstGeom>
          <a:ln w="47625">
            <a:solidFill>
              <a:srgbClr val="FBE7C6"/>
            </a:solidFill>
            <a:prstDash val="lgDashDot"/>
          </a:ln>
          <a:scene3d>
            <a:camera prst="orthographicFront">
              <a:rot lat="600000" lon="600000" rev="0"/>
            </a:camera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2F3C5AAC-8D45-8955-878B-9F5765E120A8}"/>
              </a:ext>
            </a:extLst>
          </p:cNvPr>
          <p:cNvCxnSpPr>
            <a:cxnSpLocks/>
          </p:cNvCxnSpPr>
          <p:nvPr/>
        </p:nvCxnSpPr>
        <p:spPr>
          <a:xfrm flipH="1" flipV="1">
            <a:off x="2826535" y="12715087"/>
            <a:ext cx="3467893" cy="49120"/>
          </a:xfrm>
          <a:prstGeom prst="line">
            <a:avLst/>
          </a:prstGeom>
          <a:ln w="47625">
            <a:solidFill>
              <a:srgbClr val="E0BBE4"/>
            </a:solidFill>
            <a:prstDash val="lgDashDot"/>
          </a:ln>
          <a:scene3d>
            <a:camera prst="orthographicFront">
              <a:rot lat="600000" lon="600000" rev="0"/>
            </a:camera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6" name="Straight Connector 2015">
            <a:extLst>
              <a:ext uri="{FF2B5EF4-FFF2-40B4-BE49-F238E27FC236}">
                <a16:creationId xmlns:a16="http://schemas.microsoft.com/office/drawing/2014/main" id="{A38F25A8-6D51-3E65-AEBF-637011E16D5A}"/>
              </a:ext>
            </a:extLst>
          </p:cNvPr>
          <p:cNvCxnSpPr>
            <a:cxnSpLocks/>
          </p:cNvCxnSpPr>
          <p:nvPr/>
        </p:nvCxnSpPr>
        <p:spPr>
          <a:xfrm flipH="1">
            <a:off x="7048500" y="7293326"/>
            <a:ext cx="12051029" cy="0"/>
          </a:xfrm>
          <a:prstGeom prst="line">
            <a:avLst/>
          </a:prstGeom>
          <a:ln w="53975">
            <a:solidFill>
              <a:srgbClr val="FADADD"/>
            </a:solidFill>
            <a:prstDash val="lgDashDot"/>
          </a:ln>
          <a:scene3d>
            <a:camera prst="orthographicFront">
              <a:rot lat="600000" lon="600000" rev="0"/>
            </a:camera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8" name="Cube 2037">
            <a:extLst>
              <a:ext uri="{FF2B5EF4-FFF2-40B4-BE49-F238E27FC236}">
                <a16:creationId xmlns:a16="http://schemas.microsoft.com/office/drawing/2014/main" id="{89B41E65-3012-0318-30A1-8B8D8E28F4BE}"/>
              </a:ext>
            </a:extLst>
          </p:cNvPr>
          <p:cNvSpPr/>
          <p:nvPr/>
        </p:nvSpPr>
        <p:spPr>
          <a:xfrm>
            <a:off x="8215388" y="3601824"/>
            <a:ext cx="1479594" cy="2487689"/>
          </a:xfrm>
          <a:prstGeom prst="cube">
            <a:avLst>
              <a:gd name="adj" fmla="val 0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46" name="TextBox 2045">
            <a:extLst>
              <a:ext uri="{FF2B5EF4-FFF2-40B4-BE49-F238E27FC236}">
                <a16:creationId xmlns:a16="http://schemas.microsoft.com/office/drawing/2014/main" id="{B458CADF-C9CB-633B-49F3-AA47CA69CBF2}"/>
              </a:ext>
            </a:extLst>
          </p:cNvPr>
          <p:cNvSpPr txBox="1"/>
          <p:nvPr/>
        </p:nvSpPr>
        <p:spPr>
          <a:xfrm>
            <a:off x="16815965" y="13803583"/>
            <a:ext cx="827417" cy="584775"/>
          </a:xfrm>
          <a:prstGeom prst="rect">
            <a:avLst/>
          </a:prstGeom>
          <a:noFill/>
          <a:scene3d>
            <a:camera prst="isometricOffAxis2Right">
              <a:rot lat="1080000" lon="186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Helvetica" panose="020B0604020202020204" pitchFamily="34" charset="0"/>
                <a:cs typeface="Helvetica" panose="020B0604020202020204" pitchFamily="34" charset="0"/>
              </a:rPr>
              <a:t>1</a:t>
            </a:r>
          </a:p>
        </p:txBody>
      </p:sp>
      <p:sp>
        <p:nvSpPr>
          <p:cNvPr id="2047" name="TextBox 2046">
            <a:extLst>
              <a:ext uri="{FF2B5EF4-FFF2-40B4-BE49-F238E27FC236}">
                <a16:creationId xmlns:a16="http://schemas.microsoft.com/office/drawing/2014/main" id="{6CCB36F4-3625-71C6-E9E7-6E23394A7459}"/>
              </a:ext>
            </a:extLst>
          </p:cNvPr>
          <p:cNvSpPr txBox="1"/>
          <p:nvPr/>
        </p:nvSpPr>
        <p:spPr>
          <a:xfrm>
            <a:off x="17307577" y="13056333"/>
            <a:ext cx="827417" cy="584775"/>
          </a:xfrm>
          <a:prstGeom prst="rect">
            <a:avLst/>
          </a:prstGeom>
          <a:noFill/>
          <a:scene3d>
            <a:camera prst="isometricOffAxis2Right">
              <a:rot lat="1080000" lon="186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Helvetica" panose="020B0604020202020204" pitchFamily="34" charset="0"/>
                <a:cs typeface="Helvetica" panose="020B0604020202020204" pitchFamily="34" charset="0"/>
              </a:rPr>
              <a:t>2</a:t>
            </a:r>
          </a:p>
        </p:txBody>
      </p:sp>
      <p:sp>
        <p:nvSpPr>
          <p:cNvPr id="2048" name="TextBox 2047">
            <a:extLst>
              <a:ext uri="{FF2B5EF4-FFF2-40B4-BE49-F238E27FC236}">
                <a16:creationId xmlns:a16="http://schemas.microsoft.com/office/drawing/2014/main" id="{0E1C0781-9D60-596D-33FE-339832A4B2B0}"/>
              </a:ext>
            </a:extLst>
          </p:cNvPr>
          <p:cNvSpPr txBox="1"/>
          <p:nvPr/>
        </p:nvSpPr>
        <p:spPr>
          <a:xfrm>
            <a:off x="17764777" y="12259924"/>
            <a:ext cx="827417" cy="584775"/>
          </a:xfrm>
          <a:prstGeom prst="rect">
            <a:avLst/>
          </a:prstGeom>
          <a:noFill/>
          <a:scene3d>
            <a:camera prst="isometricOffAxis2Right">
              <a:rot lat="1080000" lon="186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Helvetica" panose="020B0604020202020204" pitchFamily="34" charset="0"/>
                <a:cs typeface="Helvetica" panose="020B0604020202020204" pitchFamily="34" charset="0"/>
              </a:rPr>
              <a:t>3</a:t>
            </a:r>
          </a:p>
        </p:txBody>
      </p:sp>
      <p:sp>
        <p:nvSpPr>
          <p:cNvPr id="2049" name="TextBox 2048">
            <a:extLst>
              <a:ext uri="{FF2B5EF4-FFF2-40B4-BE49-F238E27FC236}">
                <a16:creationId xmlns:a16="http://schemas.microsoft.com/office/drawing/2014/main" id="{77056A1F-A3F9-267B-C408-6BC65B97A6B6}"/>
              </a:ext>
            </a:extLst>
          </p:cNvPr>
          <p:cNvSpPr txBox="1"/>
          <p:nvPr/>
        </p:nvSpPr>
        <p:spPr>
          <a:xfrm>
            <a:off x="18129676" y="11490262"/>
            <a:ext cx="827417" cy="584775"/>
          </a:xfrm>
          <a:prstGeom prst="rect">
            <a:avLst/>
          </a:prstGeom>
          <a:noFill/>
          <a:scene3d>
            <a:camera prst="isometricOffAxis2Right">
              <a:rot lat="1080000" lon="186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Helvetica" panose="020B0604020202020204" pitchFamily="34" charset="0"/>
                <a:cs typeface="Helvetica" panose="020B0604020202020204" pitchFamily="34" charset="0"/>
              </a:rPr>
              <a:t>4</a:t>
            </a:r>
          </a:p>
        </p:txBody>
      </p:sp>
      <p:sp>
        <p:nvSpPr>
          <p:cNvPr id="2050" name="TextBox 2049">
            <a:extLst>
              <a:ext uri="{FF2B5EF4-FFF2-40B4-BE49-F238E27FC236}">
                <a16:creationId xmlns:a16="http://schemas.microsoft.com/office/drawing/2014/main" id="{16886992-6615-07FB-98C0-C6D33508F919}"/>
              </a:ext>
            </a:extLst>
          </p:cNvPr>
          <p:cNvSpPr txBox="1"/>
          <p:nvPr/>
        </p:nvSpPr>
        <p:spPr>
          <a:xfrm>
            <a:off x="18628178" y="10698796"/>
            <a:ext cx="827417" cy="584775"/>
          </a:xfrm>
          <a:prstGeom prst="rect">
            <a:avLst/>
          </a:prstGeom>
          <a:noFill/>
          <a:scene3d>
            <a:camera prst="isometricOffAxis2Right">
              <a:rot lat="1080000" lon="186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Helvetica" panose="020B0604020202020204" pitchFamily="34" charset="0"/>
                <a:cs typeface="Helvetica" panose="020B0604020202020204" pitchFamily="34" charset="0"/>
              </a:rPr>
              <a:t>5</a:t>
            </a:r>
          </a:p>
        </p:txBody>
      </p:sp>
      <p:sp>
        <p:nvSpPr>
          <p:cNvPr id="2051" name="TextBox 2050">
            <a:extLst>
              <a:ext uri="{FF2B5EF4-FFF2-40B4-BE49-F238E27FC236}">
                <a16:creationId xmlns:a16="http://schemas.microsoft.com/office/drawing/2014/main" id="{B2BDE14B-974D-A363-5DA6-D5C550329213}"/>
              </a:ext>
            </a:extLst>
          </p:cNvPr>
          <p:cNvSpPr txBox="1"/>
          <p:nvPr/>
        </p:nvSpPr>
        <p:spPr>
          <a:xfrm>
            <a:off x="19048992" y="9887606"/>
            <a:ext cx="827417" cy="584775"/>
          </a:xfrm>
          <a:prstGeom prst="rect">
            <a:avLst/>
          </a:prstGeom>
          <a:noFill/>
          <a:scene3d>
            <a:camera prst="isometricOffAxis2Right">
              <a:rot lat="1080000" lon="186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Helvetica" panose="020B0604020202020204" pitchFamily="34" charset="0"/>
                <a:cs typeface="Helvetica" panose="020B0604020202020204" pitchFamily="34" charset="0"/>
              </a:rPr>
              <a:t>6</a:t>
            </a:r>
          </a:p>
        </p:txBody>
      </p:sp>
      <p:sp>
        <p:nvSpPr>
          <p:cNvPr id="2052" name="TextBox 2051">
            <a:extLst>
              <a:ext uri="{FF2B5EF4-FFF2-40B4-BE49-F238E27FC236}">
                <a16:creationId xmlns:a16="http://schemas.microsoft.com/office/drawing/2014/main" id="{3B2AB246-FFE3-A7A7-660E-B98F74D02A31}"/>
              </a:ext>
            </a:extLst>
          </p:cNvPr>
          <p:cNvSpPr txBox="1"/>
          <p:nvPr/>
        </p:nvSpPr>
        <p:spPr>
          <a:xfrm>
            <a:off x="19479454" y="9080732"/>
            <a:ext cx="827417" cy="584775"/>
          </a:xfrm>
          <a:prstGeom prst="rect">
            <a:avLst/>
          </a:prstGeom>
          <a:noFill/>
          <a:scene3d>
            <a:camera prst="isometricOffAxis2Right">
              <a:rot lat="1080000" lon="186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Helvetica" panose="020B0604020202020204" pitchFamily="34" charset="0"/>
                <a:cs typeface="Helvetica" panose="020B0604020202020204" pitchFamily="34" charset="0"/>
              </a:rPr>
              <a:t>7</a:t>
            </a:r>
          </a:p>
        </p:txBody>
      </p:sp>
      <p:sp>
        <p:nvSpPr>
          <p:cNvPr id="2053" name="TextBox 2052">
            <a:extLst>
              <a:ext uri="{FF2B5EF4-FFF2-40B4-BE49-F238E27FC236}">
                <a16:creationId xmlns:a16="http://schemas.microsoft.com/office/drawing/2014/main" id="{D3FA50AD-8776-AB99-5336-2810E4E7A585}"/>
              </a:ext>
            </a:extLst>
          </p:cNvPr>
          <p:cNvSpPr txBox="1"/>
          <p:nvPr/>
        </p:nvSpPr>
        <p:spPr>
          <a:xfrm>
            <a:off x="19876409" y="8296376"/>
            <a:ext cx="827417" cy="584775"/>
          </a:xfrm>
          <a:prstGeom prst="rect">
            <a:avLst/>
          </a:prstGeom>
          <a:noFill/>
          <a:scene3d>
            <a:camera prst="isometricOffAxis2Right">
              <a:rot lat="1080000" lon="186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Helvetica" panose="020B0604020202020204" pitchFamily="34" charset="0"/>
                <a:cs typeface="Helvetica" panose="020B0604020202020204" pitchFamily="34" charset="0"/>
              </a:rPr>
              <a:t>8</a:t>
            </a:r>
          </a:p>
        </p:txBody>
      </p:sp>
      <p:sp>
        <p:nvSpPr>
          <p:cNvPr id="2054" name="TextBox 2053">
            <a:extLst>
              <a:ext uri="{FF2B5EF4-FFF2-40B4-BE49-F238E27FC236}">
                <a16:creationId xmlns:a16="http://schemas.microsoft.com/office/drawing/2014/main" id="{E2F9287C-4CD8-9989-C687-F08959E7A8C8}"/>
              </a:ext>
            </a:extLst>
          </p:cNvPr>
          <p:cNvSpPr txBox="1"/>
          <p:nvPr/>
        </p:nvSpPr>
        <p:spPr>
          <a:xfrm>
            <a:off x="20234600" y="7543801"/>
            <a:ext cx="827417" cy="584775"/>
          </a:xfrm>
          <a:prstGeom prst="rect">
            <a:avLst/>
          </a:prstGeom>
          <a:noFill/>
          <a:scene3d>
            <a:camera prst="isometricOffAxis2Right">
              <a:rot lat="1080000" lon="186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Helvetica" panose="020B0604020202020204" pitchFamily="34" charset="0"/>
                <a:cs typeface="Helvetica" panose="020B0604020202020204" pitchFamily="34" charset="0"/>
              </a:rPr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13FB35-0DD4-E97C-E2A2-9414564833CE}"/>
              </a:ext>
            </a:extLst>
          </p:cNvPr>
          <p:cNvSpPr txBox="1"/>
          <p:nvPr/>
        </p:nvSpPr>
        <p:spPr>
          <a:xfrm rot="5400000">
            <a:off x="-452171" y="11060984"/>
            <a:ext cx="4880442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rtl="0">
              <a:lnSpc>
                <a:spcPct val="150000"/>
              </a:lnSpc>
              <a:spcAft>
                <a:spcPts val="800"/>
              </a:spcAft>
            </a:pPr>
            <a:r>
              <a:rPr lang="en-GB" sz="1800" kern="100" dirty="0">
                <a:effectLst/>
                <a:latin typeface="Helvetica" panose="020B0604020202020204"/>
                <a:ea typeface="Aptos" panose="020B0004020202020204" pitchFamily="34" charset="0"/>
                <a:cs typeface="Helvetica" panose="020B0604020202020204"/>
              </a:rPr>
              <a:t>Panel 1: Strategic decarbonisation options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46F7AB-F351-ED85-28A0-23F20E1895DB}"/>
              </a:ext>
            </a:extLst>
          </p:cNvPr>
          <p:cNvSpPr txBox="1"/>
          <p:nvPr/>
        </p:nvSpPr>
        <p:spPr>
          <a:xfrm rot="5400000">
            <a:off x="137359" y="10644164"/>
            <a:ext cx="4880442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">
              <a:lnSpc>
                <a:spcPct val="150000"/>
              </a:lnSpc>
              <a:spcAft>
                <a:spcPts val="800"/>
              </a:spcAft>
              <a:defRPr kern="100">
                <a:effectLst/>
                <a:latin typeface="Helvetica" panose="020B0604020202020204"/>
                <a:ea typeface="Aptos" panose="020B0004020202020204" pitchFamily="34" charset="0"/>
                <a:cs typeface="Helvetica" panose="020B0604020202020204"/>
              </a:defRPr>
            </a:lvl1pPr>
          </a:lstStyle>
          <a:p>
            <a:r>
              <a:rPr lang="en-GB" dirty="0"/>
              <a:t>Panel 2: Uncertainty-aware system modelling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BD30D7-62B1-6088-F73B-C40A33C0C705}"/>
              </a:ext>
            </a:extLst>
          </p:cNvPr>
          <p:cNvSpPr txBox="1"/>
          <p:nvPr/>
        </p:nvSpPr>
        <p:spPr>
          <a:xfrm rot="5400000">
            <a:off x="-198401" y="8799548"/>
            <a:ext cx="6917171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">
              <a:lnSpc>
                <a:spcPct val="150000"/>
              </a:lnSpc>
              <a:spcAft>
                <a:spcPts val="800"/>
              </a:spcAft>
              <a:defRPr kern="100">
                <a:effectLst/>
                <a:latin typeface="Helvetica" panose="020B0604020202020204"/>
                <a:ea typeface="Aptos" panose="020B0004020202020204" pitchFamily="34" charset="0"/>
                <a:cs typeface="Helvetica" panose="020B0604020202020204"/>
              </a:defRPr>
            </a:lvl1pPr>
          </a:lstStyle>
          <a:p>
            <a:r>
              <a:rPr lang="en-GB" dirty="0"/>
              <a:t>Panel 3: Hierarchical decomposition for large-scale optimization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518043-802E-9604-D3AB-AFF68F6CB731}"/>
              </a:ext>
            </a:extLst>
          </p:cNvPr>
          <p:cNvSpPr txBox="1"/>
          <p:nvPr/>
        </p:nvSpPr>
        <p:spPr>
          <a:xfrm rot="5400000">
            <a:off x="1466329" y="10097130"/>
            <a:ext cx="4880442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">
              <a:lnSpc>
                <a:spcPct val="150000"/>
              </a:lnSpc>
              <a:spcAft>
                <a:spcPts val="800"/>
              </a:spcAft>
              <a:defRPr kern="100">
                <a:effectLst/>
                <a:latin typeface="Helvetica" panose="020B0604020202020204"/>
                <a:ea typeface="Aptos" panose="020B0004020202020204" pitchFamily="34" charset="0"/>
                <a:cs typeface="Helvetica" panose="020B0604020202020204"/>
              </a:defRPr>
            </a:lvl1pPr>
          </a:lstStyle>
          <a:p>
            <a:r>
              <a:rPr lang="en-GB" dirty="0"/>
              <a:t>Panel 4: Input data management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612BB9-F218-12E5-C51E-7ED5053FCB6F}"/>
              </a:ext>
            </a:extLst>
          </p:cNvPr>
          <p:cNvSpPr txBox="1"/>
          <p:nvPr/>
        </p:nvSpPr>
        <p:spPr>
          <a:xfrm rot="5400000">
            <a:off x="1088717" y="7352969"/>
            <a:ext cx="6917171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">
              <a:lnSpc>
                <a:spcPct val="150000"/>
              </a:lnSpc>
              <a:spcAft>
                <a:spcPts val="800"/>
              </a:spcAft>
              <a:defRPr kern="100">
                <a:effectLst/>
                <a:latin typeface="Helvetica" panose="020B0604020202020204"/>
                <a:ea typeface="Aptos" panose="020B0004020202020204" pitchFamily="34" charset="0"/>
                <a:cs typeface="Helvetica" panose="020B0604020202020204"/>
              </a:defRPr>
            </a:lvl1pPr>
          </a:lstStyle>
          <a:p>
            <a:r>
              <a:rPr lang="en-GB" dirty="0"/>
              <a:t>Panel 5: Candidate energy technologies and infrastructure list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DE95CE-C75D-B929-50D5-22F03977B9DA}"/>
              </a:ext>
            </a:extLst>
          </p:cNvPr>
          <p:cNvSpPr txBox="1"/>
          <p:nvPr/>
        </p:nvSpPr>
        <p:spPr>
          <a:xfrm rot="5400000">
            <a:off x="2143730" y="6797889"/>
            <a:ext cx="598340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">
              <a:lnSpc>
                <a:spcPct val="150000"/>
              </a:lnSpc>
              <a:spcAft>
                <a:spcPts val="800"/>
              </a:spcAft>
              <a:defRPr kern="100">
                <a:effectLst/>
                <a:latin typeface="Helvetica" panose="020B0604020202020204"/>
                <a:ea typeface="Aptos" panose="020B0004020202020204" pitchFamily="34" charset="0"/>
                <a:cs typeface="Helvetica" panose="020B0604020202020204"/>
              </a:defRPr>
            </a:lvl1pPr>
          </a:lstStyle>
          <a:p>
            <a:r>
              <a:rPr lang="en-GB" dirty="0"/>
              <a:t>Panel 6: Temporal resolution and clustering techniques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7B114B-1149-EBDA-B6A3-B9673439E687}"/>
              </a:ext>
            </a:extLst>
          </p:cNvPr>
          <p:cNvSpPr txBox="1"/>
          <p:nvPr/>
        </p:nvSpPr>
        <p:spPr>
          <a:xfrm rot="5400000">
            <a:off x="2572511" y="6204503"/>
            <a:ext cx="6423909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">
              <a:lnSpc>
                <a:spcPct val="150000"/>
              </a:lnSpc>
              <a:spcAft>
                <a:spcPts val="800"/>
              </a:spcAft>
              <a:defRPr kern="100">
                <a:effectLst/>
                <a:latin typeface="Helvetica" panose="020B0604020202020204"/>
                <a:ea typeface="Aptos" panose="020B0004020202020204" pitchFamily="34" charset="0"/>
                <a:cs typeface="Helvetica" panose="020B0604020202020204"/>
              </a:defRPr>
            </a:lvl1pPr>
          </a:lstStyle>
          <a:p>
            <a:r>
              <a:rPr lang="en-GB" dirty="0"/>
              <a:t>Panel 7: Optimization framework and objective function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D1D47B-835A-9DD1-0DE2-535CCD4D5CD7}"/>
              </a:ext>
            </a:extLst>
          </p:cNvPr>
          <p:cNvSpPr txBox="1"/>
          <p:nvPr/>
        </p:nvSpPr>
        <p:spPr>
          <a:xfrm rot="5400000">
            <a:off x="3407730" y="5480565"/>
            <a:ext cx="598340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">
              <a:lnSpc>
                <a:spcPct val="150000"/>
              </a:lnSpc>
              <a:spcAft>
                <a:spcPts val="800"/>
              </a:spcAft>
              <a:defRPr kern="100">
                <a:effectLst/>
                <a:latin typeface="Helvetica" panose="020B0604020202020204"/>
                <a:ea typeface="Aptos" panose="020B0004020202020204" pitchFamily="34" charset="0"/>
                <a:cs typeface="Helvetica" panose="020B0604020202020204"/>
              </a:defRPr>
            </a:lvl1pPr>
          </a:lstStyle>
          <a:p>
            <a:r>
              <a:rPr lang="en-GB" dirty="0"/>
              <a:t>Panel 8: Solver integration and computational settings</a:t>
            </a:r>
          </a:p>
        </p:txBody>
      </p:sp>
      <p:sp>
        <p:nvSpPr>
          <p:cNvPr id="166" name="Cube 165">
            <a:extLst>
              <a:ext uri="{FF2B5EF4-FFF2-40B4-BE49-F238E27FC236}">
                <a16:creationId xmlns:a16="http://schemas.microsoft.com/office/drawing/2014/main" id="{D1FFB449-52E3-D11F-9487-A6ADDFA6528C}"/>
              </a:ext>
            </a:extLst>
          </p:cNvPr>
          <p:cNvSpPr/>
          <p:nvPr/>
        </p:nvSpPr>
        <p:spPr>
          <a:xfrm>
            <a:off x="6599584" y="-440104"/>
            <a:ext cx="726299" cy="10067373"/>
          </a:xfrm>
          <a:prstGeom prst="cube">
            <a:avLst>
              <a:gd name="adj" fmla="val 96552"/>
            </a:avLst>
          </a:prstGeom>
          <a:solidFill>
            <a:srgbClr val="FADADD">
              <a:alpha val="61000"/>
            </a:srgbClr>
          </a:solidFill>
          <a:ln>
            <a:noFill/>
          </a:ln>
          <a:scene3d>
            <a:camera prst="isometricOffAxis2Right">
              <a:rot lat="3000000" lon="19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2C3C9C5-982E-784C-EBCA-DCF9AA94A6B7}"/>
              </a:ext>
            </a:extLst>
          </p:cNvPr>
          <p:cNvSpPr txBox="1"/>
          <p:nvPr/>
        </p:nvSpPr>
        <p:spPr>
          <a:xfrm rot="5400000">
            <a:off x="4068558" y="4411598"/>
            <a:ext cx="598340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">
              <a:lnSpc>
                <a:spcPct val="150000"/>
              </a:lnSpc>
              <a:spcAft>
                <a:spcPts val="800"/>
              </a:spcAft>
              <a:defRPr kern="100">
                <a:effectLst/>
                <a:latin typeface="Helvetica" panose="020B0604020202020204"/>
                <a:ea typeface="Aptos" panose="020B0004020202020204" pitchFamily="34" charset="0"/>
                <a:cs typeface="Helvetica" panose="020B0604020202020204"/>
              </a:defRPr>
            </a:lvl1pPr>
          </a:lstStyle>
          <a:p>
            <a:r>
              <a:rPr lang="en-GB" dirty="0"/>
              <a:t>Panel 9: Output processing and interactive visualisation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5CB28856-A433-137B-22F1-9FDD31B50CC2}"/>
              </a:ext>
            </a:extLst>
          </p:cNvPr>
          <p:cNvSpPr txBox="1"/>
          <p:nvPr/>
        </p:nvSpPr>
        <p:spPr>
          <a:xfrm>
            <a:off x="2803621" y="13752761"/>
            <a:ext cx="11902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By running the GUI, the first step requires the user to select a heat decarbonization pathway from the available options.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71E20E7-5151-093C-5354-2F55208BC4F7}"/>
              </a:ext>
            </a:extLst>
          </p:cNvPr>
          <p:cNvSpPr txBox="1"/>
          <p:nvPr/>
        </p:nvSpPr>
        <p:spPr>
          <a:xfrm>
            <a:off x="4146200" y="12962870"/>
            <a:ext cx="12259735" cy="646331"/>
          </a:xfrm>
          <a:prstGeom prst="rect">
            <a:avLst/>
          </a:prstGeom>
          <a:noFill/>
          <a:scene3d>
            <a:camera prst="orthographicFront">
              <a:rot lat="0" lon="12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To capture the uncertainty of heat demand and renewable energy availability, different optimization approaches are provided, enabling the user to make robust decisions against uncertain parameters.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EBF37BF-8F23-FD58-B231-803FD6841552}"/>
              </a:ext>
            </a:extLst>
          </p:cNvPr>
          <p:cNvSpPr txBox="1"/>
          <p:nvPr/>
        </p:nvSpPr>
        <p:spPr>
          <a:xfrm>
            <a:off x="6427031" y="12215276"/>
            <a:ext cx="11680180" cy="369332"/>
          </a:xfrm>
          <a:prstGeom prst="rect">
            <a:avLst/>
          </a:prstGeom>
          <a:noFill/>
          <a:scene3d>
            <a:camera prst="orthographicFront">
              <a:rot lat="0" lon="12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To reduce model size/ runtime, GUI offers decomposition techniques, allowing user to choose a preferred method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FFFF868-B175-23A9-485B-A8DDFF925733}"/>
              </a:ext>
            </a:extLst>
          </p:cNvPr>
          <p:cNvSpPr txBox="1"/>
          <p:nvPr/>
        </p:nvSpPr>
        <p:spPr>
          <a:xfrm>
            <a:off x="8813663" y="11377223"/>
            <a:ext cx="9030904" cy="646331"/>
          </a:xfrm>
          <a:prstGeom prst="rect">
            <a:avLst/>
          </a:prstGeom>
          <a:noFill/>
          <a:scene3d>
            <a:camera prst="orthographicFront">
              <a:rot lat="0" lon="12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The user must upload or drag in the input file corresponding to the selected method, with the option to modify it beforehand.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91C3B90A-0F45-F040-AB8F-AF64F652E518}"/>
              </a:ext>
            </a:extLst>
          </p:cNvPr>
          <p:cNvSpPr txBox="1"/>
          <p:nvPr/>
        </p:nvSpPr>
        <p:spPr>
          <a:xfrm>
            <a:off x="10780796" y="10616559"/>
            <a:ext cx="8233072" cy="646331"/>
          </a:xfrm>
          <a:prstGeom prst="rect">
            <a:avLst/>
          </a:prstGeom>
          <a:noFill/>
          <a:scene3d>
            <a:camera prst="orthographicFront">
              <a:rot lat="0" lon="12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We offer a comprehensive range of technologies and infrastructure across all sectors where the user can include/exclude them in the optimisation model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BAA3D8C8-7F65-A17B-BADE-C71726535CA1}"/>
              </a:ext>
            </a:extLst>
          </p:cNvPr>
          <p:cNvSpPr txBox="1"/>
          <p:nvPr/>
        </p:nvSpPr>
        <p:spPr>
          <a:xfrm>
            <a:off x="12756269" y="9867259"/>
            <a:ext cx="6813625" cy="646331"/>
          </a:xfrm>
          <a:prstGeom prst="rect">
            <a:avLst/>
          </a:prstGeom>
          <a:noFill/>
          <a:scene3d>
            <a:camera prst="orthographicFront">
              <a:rot lat="0" lon="12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The user is required to input the desired number of representative days for clustering and scenario generation/reduction.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C837FD5C-9F49-4836-F14F-956077E5D277}"/>
              </a:ext>
            </a:extLst>
          </p:cNvPr>
          <p:cNvSpPr txBox="1"/>
          <p:nvPr/>
        </p:nvSpPr>
        <p:spPr>
          <a:xfrm>
            <a:off x="14821015" y="9041759"/>
            <a:ext cx="4825079" cy="646331"/>
          </a:xfrm>
          <a:prstGeom prst="rect">
            <a:avLst/>
          </a:prstGeom>
          <a:noFill/>
          <a:scene3d>
            <a:camera prst="orthographicFront">
              <a:rot lat="0" lon="12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All optimization coding for all methods is excluded from this layer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79A522BB-A09A-D9CA-8516-238BA0A8E164}"/>
              </a:ext>
            </a:extLst>
          </p:cNvPr>
          <p:cNvSpPr txBox="1"/>
          <p:nvPr/>
        </p:nvSpPr>
        <p:spPr>
          <a:xfrm>
            <a:off x="16678330" y="8268805"/>
            <a:ext cx="3594294" cy="584775"/>
          </a:xfrm>
          <a:prstGeom prst="rect">
            <a:avLst/>
          </a:prstGeom>
          <a:noFill/>
          <a:scene3d>
            <a:camera prst="orthographicFront">
              <a:rot lat="0" lon="12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User can easily select the desired solver without requiring a license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80CEDF39-B011-0021-1147-B5AC19B7EB0D}"/>
              </a:ext>
            </a:extLst>
          </p:cNvPr>
          <p:cNvSpPr txBox="1"/>
          <p:nvPr/>
        </p:nvSpPr>
        <p:spPr>
          <a:xfrm>
            <a:off x="18639949" y="7581236"/>
            <a:ext cx="2076541" cy="369332"/>
          </a:xfrm>
          <a:prstGeom prst="rect">
            <a:avLst/>
          </a:prstGeom>
          <a:noFill/>
          <a:scene3d>
            <a:camera prst="orthographicFront">
              <a:rot lat="0" lon="12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Visualisation</a:t>
            </a:r>
          </a:p>
        </p:txBody>
      </p:sp>
      <p:sp>
        <p:nvSpPr>
          <p:cNvPr id="220" name="Rectangle: Rounded Corners 219">
            <a:extLst>
              <a:ext uri="{FF2B5EF4-FFF2-40B4-BE49-F238E27FC236}">
                <a16:creationId xmlns:a16="http://schemas.microsoft.com/office/drawing/2014/main" id="{DBA0B0C2-6488-29BC-29C2-923D0631B6A9}"/>
              </a:ext>
            </a:extLst>
          </p:cNvPr>
          <p:cNvSpPr/>
          <p:nvPr/>
        </p:nvSpPr>
        <p:spPr>
          <a:xfrm>
            <a:off x="8294954" y="4346771"/>
            <a:ext cx="1355619" cy="4629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21" name="Rectangle: Rounded Corners 220">
            <a:extLst>
              <a:ext uri="{FF2B5EF4-FFF2-40B4-BE49-F238E27FC236}">
                <a16:creationId xmlns:a16="http://schemas.microsoft.com/office/drawing/2014/main" id="{BD4EBEF2-5420-52C5-24E2-87354CCEEC5D}"/>
              </a:ext>
            </a:extLst>
          </p:cNvPr>
          <p:cNvSpPr/>
          <p:nvPr/>
        </p:nvSpPr>
        <p:spPr>
          <a:xfrm>
            <a:off x="8286103" y="4920717"/>
            <a:ext cx="1355619" cy="4629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22" name="Rectangle: Rounded Corners 221">
            <a:extLst>
              <a:ext uri="{FF2B5EF4-FFF2-40B4-BE49-F238E27FC236}">
                <a16:creationId xmlns:a16="http://schemas.microsoft.com/office/drawing/2014/main" id="{D585F771-7F43-5311-CC32-D8025B442ED0}"/>
              </a:ext>
            </a:extLst>
          </p:cNvPr>
          <p:cNvSpPr/>
          <p:nvPr/>
        </p:nvSpPr>
        <p:spPr>
          <a:xfrm>
            <a:off x="8300123" y="5524079"/>
            <a:ext cx="1355619" cy="4629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BB3662C1-346A-9BFF-5328-AD22BE672D41}"/>
              </a:ext>
            </a:extLst>
          </p:cNvPr>
          <p:cNvSpPr/>
          <p:nvPr/>
        </p:nvSpPr>
        <p:spPr>
          <a:xfrm>
            <a:off x="8209411" y="3658479"/>
            <a:ext cx="1502774" cy="5517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EC886FF3-7B19-840B-9409-1CBECE9C0D65}"/>
              </a:ext>
            </a:extLst>
          </p:cNvPr>
          <p:cNvSpPr txBox="1"/>
          <p:nvPr/>
        </p:nvSpPr>
        <p:spPr>
          <a:xfrm>
            <a:off x="8565190" y="5590439"/>
            <a:ext cx="8355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Helvetica" panose="020B0604020202020204"/>
                <a:cs typeface="Helvetica" panose="020B0604020202020204"/>
              </a:rPr>
              <a:t>Hybrid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E04E37F3-B163-7258-8FB0-01512B24DA63}"/>
              </a:ext>
            </a:extLst>
          </p:cNvPr>
          <p:cNvSpPr txBox="1"/>
          <p:nvPr/>
        </p:nvSpPr>
        <p:spPr>
          <a:xfrm>
            <a:off x="8276891" y="4978183"/>
            <a:ext cx="14275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Helvetica" panose="020B0604020202020204"/>
                <a:cs typeface="Helvetica" panose="020B0604020202020204"/>
              </a:rPr>
              <a:t>Electrification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97035625-12F6-C836-7070-3EC7D02D4B1E}"/>
              </a:ext>
            </a:extLst>
          </p:cNvPr>
          <p:cNvSpPr txBox="1"/>
          <p:nvPr/>
        </p:nvSpPr>
        <p:spPr>
          <a:xfrm>
            <a:off x="8224451" y="4392700"/>
            <a:ext cx="15027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Helvetica" panose="020B0604020202020204"/>
                <a:cs typeface="Helvetica" panose="020B0604020202020204"/>
              </a:rPr>
              <a:t>Hydrogenation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D85D04A1-ADC6-0A13-FC8A-5D73E753CADB}"/>
              </a:ext>
            </a:extLst>
          </p:cNvPr>
          <p:cNvSpPr txBox="1"/>
          <p:nvPr/>
        </p:nvSpPr>
        <p:spPr>
          <a:xfrm>
            <a:off x="8116079" y="3671232"/>
            <a:ext cx="16508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500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Decarbonisation Pathway</a:t>
            </a:r>
          </a:p>
        </p:txBody>
      </p:sp>
      <p:sp>
        <p:nvSpPr>
          <p:cNvPr id="228" name="Cube 227">
            <a:extLst>
              <a:ext uri="{FF2B5EF4-FFF2-40B4-BE49-F238E27FC236}">
                <a16:creationId xmlns:a16="http://schemas.microsoft.com/office/drawing/2014/main" id="{CBA65242-C91A-82F7-C583-C457D6677BCF}"/>
              </a:ext>
            </a:extLst>
          </p:cNvPr>
          <p:cNvSpPr/>
          <p:nvPr/>
        </p:nvSpPr>
        <p:spPr>
          <a:xfrm>
            <a:off x="9725719" y="3598034"/>
            <a:ext cx="1479594" cy="2487688"/>
          </a:xfrm>
          <a:prstGeom prst="cube">
            <a:avLst>
              <a:gd name="adj" fmla="val 0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9" name="Rectangle: Rounded Corners 228">
            <a:extLst>
              <a:ext uri="{FF2B5EF4-FFF2-40B4-BE49-F238E27FC236}">
                <a16:creationId xmlns:a16="http://schemas.microsoft.com/office/drawing/2014/main" id="{42A5C936-2F94-0C2A-2F62-9FCD0FC4A6D0}"/>
              </a:ext>
            </a:extLst>
          </p:cNvPr>
          <p:cNvSpPr/>
          <p:nvPr/>
        </p:nvSpPr>
        <p:spPr>
          <a:xfrm>
            <a:off x="9792974" y="4342980"/>
            <a:ext cx="1355619" cy="45695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30" name="Rectangle: Rounded Corners 229">
            <a:extLst>
              <a:ext uri="{FF2B5EF4-FFF2-40B4-BE49-F238E27FC236}">
                <a16:creationId xmlns:a16="http://schemas.microsoft.com/office/drawing/2014/main" id="{09DE9BB3-6E35-50A1-91A6-5D3D5CB09968}"/>
              </a:ext>
            </a:extLst>
          </p:cNvPr>
          <p:cNvSpPr/>
          <p:nvPr/>
        </p:nvSpPr>
        <p:spPr>
          <a:xfrm>
            <a:off x="9784123" y="4916926"/>
            <a:ext cx="1355619" cy="45695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31" name="Rectangle: Rounded Corners 230">
            <a:extLst>
              <a:ext uri="{FF2B5EF4-FFF2-40B4-BE49-F238E27FC236}">
                <a16:creationId xmlns:a16="http://schemas.microsoft.com/office/drawing/2014/main" id="{9B66AE43-E86A-C1AC-8557-C7EC8347F6D2}"/>
              </a:ext>
            </a:extLst>
          </p:cNvPr>
          <p:cNvSpPr/>
          <p:nvPr/>
        </p:nvSpPr>
        <p:spPr>
          <a:xfrm>
            <a:off x="9798143" y="5520288"/>
            <a:ext cx="1355619" cy="45695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F0059976-8079-BD3A-52FD-29239DF1DEE9}"/>
              </a:ext>
            </a:extLst>
          </p:cNvPr>
          <p:cNvSpPr/>
          <p:nvPr/>
        </p:nvSpPr>
        <p:spPr>
          <a:xfrm>
            <a:off x="9707431" y="3661512"/>
            <a:ext cx="1502774" cy="54452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A10E4BFD-D4C8-A1D5-0545-BC5AD163F2EB}"/>
              </a:ext>
            </a:extLst>
          </p:cNvPr>
          <p:cNvSpPr txBox="1"/>
          <p:nvPr/>
        </p:nvSpPr>
        <p:spPr>
          <a:xfrm>
            <a:off x="10063210" y="5586648"/>
            <a:ext cx="8355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Helvetica" panose="020B0604020202020204"/>
                <a:cs typeface="Helvetica" panose="020B0604020202020204"/>
              </a:rPr>
              <a:t>Robust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F0CA7D7D-AE52-7D0F-B6BC-6A7F4B754C3A}"/>
              </a:ext>
            </a:extLst>
          </p:cNvPr>
          <p:cNvSpPr txBox="1"/>
          <p:nvPr/>
        </p:nvSpPr>
        <p:spPr>
          <a:xfrm>
            <a:off x="9873183" y="4979503"/>
            <a:ext cx="14275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Helvetica" panose="020B0604020202020204"/>
                <a:cs typeface="Helvetica" panose="020B0604020202020204"/>
              </a:rPr>
              <a:t>Stochastic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8A43F41F-CC96-B2FE-2FAA-F99562FD0908}"/>
              </a:ext>
            </a:extLst>
          </p:cNvPr>
          <p:cNvSpPr txBox="1"/>
          <p:nvPr/>
        </p:nvSpPr>
        <p:spPr>
          <a:xfrm>
            <a:off x="9722471" y="4388909"/>
            <a:ext cx="15027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Helvetica" panose="020B0604020202020204"/>
                <a:cs typeface="Helvetica" panose="020B0604020202020204"/>
              </a:rPr>
              <a:t>Deterministic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89DC5EEF-AFBC-5ABC-619A-9D9AC4FF326F}"/>
              </a:ext>
            </a:extLst>
          </p:cNvPr>
          <p:cNvSpPr txBox="1"/>
          <p:nvPr/>
        </p:nvSpPr>
        <p:spPr>
          <a:xfrm>
            <a:off x="9632942" y="3668177"/>
            <a:ext cx="16508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500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Optimisation Approach</a:t>
            </a:r>
          </a:p>
        </p:txBody>
      </p:sp>
      <p:sp>
        <p:nvSpPr>
          <p:cNvPr id="237" name="Cube 236">
            <a:extLst>
              <a:ext uri="{FF2B5EF4-FFF2-40B4-BE49-F238E27FC236}">
                <a16:creationId xmlns:a16="http://schemas.microsoft.com/office/drawing/2014/main" id="{F9CEF00A-ECC6-2521-0985-770FBD3CFC84}"/>
              </a:ext>
            </a:extLst>
          </p:cNvPr>
          <p:cNvSpPr/>
          <p:nvPr/>
        </p:nvSpPr>
        <p:spPr>
          <a:xfrm>
            <a:off x="11232409" y="3592845"/>
            <a:ext cx="1479594" cy="2487688"/>
          </a:xfrm>
          <a:prstGeom prst="cube">
            <a:avLst>
              <a:gd name="adj" fmla="val 0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8" name="Rectangle: Rounded Corners 237">
            <a:extLst>
              <a:ext uri="{FF2B5EF4-FFF2-40B4-BE49-F238E27FC236}">
                <a16:creationId xmlns:a16="http://schemas.microsoft.com/office/drawing/2014/main" id="{D4B1DD0C-59E2-1BC3-71B5-9073207C0B8E}"/>
              </a:ext>
            </a:extLst>
          </p:cNvPr>
          <p:cNvSpPr/>
          <p:nvPr/>
        </p:nvSpPr>
        <p:spPr>
          <a:xfrm>
            <a:off x="11304859" y="4328064"/>
            <a:ext cx="1355619" cy="4629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39" name="Rectangle: Rounded Corners 238">
            <a:extLst>
              <a:ext uri="{FF2B5EF4-FFF2-40B4-BE49-F238E27FC236}">
                <a16:creationId xmlns:a16="http://schemas.microsoft.com/office/drawing/2014/main" id="{84BB006F-8245-4795-37B2-6234BBBD1EDA}"/>
              </a:ext>
            </a:extLst>
          </p:cNvPr>
          <p:cNvSpPr/>
          <p:nvPr/>
        </p:nvSpPr>
        <p:spPr>
          <a:xfrm>
            <a:off x="11296008" y="4902010"/>
            <a:ext cx="1355619" cy="4629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40" name="Rectangle: Rounded Corners 239">
            <a:extLst>
              <a:ext uri="{FF2B5EF4-FFF2-40B4-BE49-F238E27FC236}">
                <a16:creationId xmlns:a16="http://schemas.microsoft.com/office/drawing/2014/main" id="{2C1333BD-4D03-B017-FB7D-B0A52F1E34B2}"/>
              </a:ext>
            </a:extLst>
          </p:cNvPr>
          <p:cNvSpPr/>
          <p:nvPr/>
        </p:nvSpPr>
        <p:spPr>
          <a:xfrm>
            <a:off x="11310028" y="5505372"/>
            <a:ext cx="1355619" cy="4629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EF28413F-A6C0-9240-B5C7-1F3076955C5B}"/>
              </a:ext>
            </a:extLst>
          </p:cNvPr>
          <p:cNvSpPr/>
          <p:nvPr/>
        </p:nvSpPr>
        <p:spPr>
          <a:xfrm>
            <a:off x="11205313" y="3653183"/>
            <a:ext cx="1513365" cy="5517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3CC54229-B1C7-CB6E-018F-29C9F02C9C28}"/>
              </a:ext>
            </a:extLst>
          </p:cNvPr>
          <p:cNvSpPr txBox="1"/>
          <p:nvPr/>
        </p:nvSpPr>
        <p:spPr>
          <a:xfrm>
            <a:off x="11252783" y="5563266"/>
            <a:ext cx="14778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Helvetica" panose="020B0604020202020204"/>
                <a:cs typeface="Helvetica" panose="020B0604020202020204"/>
              </a:rPr>
              <a:t>Hierarchical 2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11AC7D39-13EB-93F5-12C8-2CC810AEB097}"/>
              </a:ext>
            </a:extLst>
          </p:cNvPr>
          <p:cNvSpPr txBox="1"/>
          <p:nvPr/>
        </p:nvSpPr>
        <p:spPr>
          <a:xfrm>
            <a:off x="11289290" y="4975207"/>
            <a:ext cx="14275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Helvetica" panose="020B0604020202020204"/>
                <a:cs typeface="Helvetica" panose="020B0604020202020204"/>
              </a:rPr>
              <a:t>Hierarchical 1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78685427-C200-02A4-9B39-91DB581ACA91}"/>
              </a:ext>
            </a:extLst>
          </p:cNvPr>
          <p:cNvSpPr txBox="1"/>
          <p:nvPr/>
        </p:nvSpPr>
        <p:spPr>
          <a:xfrm>
            <a:off x="11234522" y="4396980"/>
            <a:ext cx="15027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Helvetica" panose="020B0604020202020204"/>
                <a:cs typeface="Helvetica" panose="020B0604020202020204"/>
              </a:rPr>
              <a:t>Monolithic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DC6549D7-EEC2-9BFC-B4D4-317953E200F4}"/>
              </a:ext>
            </a:extLst>
          </p:cNvPr>
          <p:cNvSpPr txBox="1"/>
          <p:nvPr/>
        </p:nvSpPr>
        <p:spPr>
          <a:xfrm>
            <a:off x="11241073" y="3650345"/>
            <a:ext cx="1597118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500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Decomposition Methods</a:t>
            </a:r>
          </a:p>
        </p:txBody>
      </p:sp>
      <p:sp>
        <p:nvSpPr>
          <p:cNvPr id="250" name="Cube 249">
            <a:extLst>
              <a:ext uri="{FF2B5EF4-FFF2-40B4-BE49-F238E27FC236}">
                <a16:creationId xmlns:a16="http://schemas.microsoft.com/office/drawing/2014/main" id="{22BCF32D-5180-EDA0-B704-D48328BB466B}"/>
              </a:ext>
            </a:extLst>
          </p:cNvPr>
          <p:cNvSpPr/>
          <p:nvPr/>
        </p:nvSpPr>
        <p:spPr>
          <a:xfrm>
            <a:off x="15574387" y="3222647"/>
            <a:ext cx="1402007" cy="2833142"/>
          </a:xfrm>
          <a:prstGeom prst="cube">
            <a:avLst>
              <a:gd name="adj" fmla="val 0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1" name="Rectangle: Rounded Corners 250">
            <a:extLst>
              <a:ext uri="{FF2B5EF4-FFF2-40B4-BE49-F238E27FC236}">
                <a16:creationId xmlns:a16="http://schemas.microsoft.com/office/drawing/2014/main" id="{134A3539-6F91-470F-4FDB-27605EAFB095}"/>
              </a:ext>
            </a:extLst>
          </p:cNvPr>
          <p:cNvSpPr/>
          <p:nvPr/>
        </p:nvSpPr>
        <p:spPr>
          <a:xfrm>
            <a:off x="15609185" y="3988084"/>
            <a:ext cx="1332334" cy="67721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52" name="Rectangle: Rounded Corners 251">
            <a:extLst>
              <a:ext uri="{FF2B5EF4-FFF2-40B4-BE49-F238E27FC236}">
                <a16:creationId xmlns:a16="http://schemas.microsoft.com/office/drawing/2014/main" id="{62922377-E058-C8B6-0AC7-7ED254EC265C}"/>
              </a:ext>
            </a:extLst>
          </p:cNvPr>
          <p:cNvSpPr/>
          <p:nvPr/>
        </p:nvSpPr>
        <p:spPr>
          <a:xfrm>
            <a:off x="15630632" y="4810844"/>
            <a:ext cx="1287758" cy="4629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53" name="Rectangle: Rounded Corners 252">
            <a:extLst>
              <a:ext uri="{FF2B5EF4-FFF2-40B4-BE49-F238E27FC236}">
                <a16:creationId xmlns:a16="http://schemas.microsoft.com/office/drawing/2014/main" id="{34010983-1374-776E-E645-C56E831E7E15}"/>
              </a:ext>
            </a:extLst>
          </p:cNvPr>
          <p:cNvSpPr/>
          <p:nvPr/>
        </p:nvSpPr>
        <p:spPr>
          <a:xfrm>
            <a:off x="15626078" y="5426646"/>
            <a:ext cx="1289512" cy="4629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AF79A79E-BA10-A530-8BA7-2A0F2B09BFFF}"/>
              </a:ext>
            </a:extLst>
          </p:cNvPr>
          <p:cNvSpPr/>
          <p:nvPr/>
        </p:nvSpPr>
        <p:spPr>
          <a:xfrm>
            <a:off x="15557882" y="3272708"/>
            <a:ext cx="1418512" cy="5517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73C807AB-D434-E541-7DBC-C10EA56F8439}"/>
              </a:ext>
            </a:extLst>
          </p:cNvPr>
          <p:cNvSpPr txBox="1"/>
          <p:nvPr/>
        </p:nvSpPr>
        <p:spPr>
          <a:xfrm>
            <a:off x="15595959" y="5405993"/>
            <a:ext cx="13467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Helvetica" panose="020B0604020202020204"/>
                <a:cs typeface="Helvetica" panose="020B0604020202020204"/>
              </a:rPr>
              <a:t>Input number of time-slice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B30F688D-7FDF-BF3A-3057-9CE3F9472277}"/>
              </a:ext>
            </a:extLst>
          </p:cNvPr>
          <p:cNvSpPr txBox="1"/>
          <p:nvPr/>
        </p:nvSpPr>
        <p:spPr>
          <a:xfrm>
            <a:off x="15567686" y="4749926"/>
            <a:ext cx="13855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Helvetica" panose="020B0604020202020204"/>
                <a:cs typeface="Helvetica" panose="020B0604020202020204"/>
              </a:rPr>
              <a:t>Input number of Scenario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4B5E6715-4A53-A883-5AD3-00A5740577AE}"/>
              </a:ext>
            </a:extLst>
          </p:cNvPr>
          <p:cNvSpPr txBox="1"/>
          <p:nvPr/>
        </p:nvSpPr>
        <p:spPr>
          <a:xfrm>
            <a:off x="15405222" y="3969529"/>
            <a:ext cx="17248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Helvetica" panose="020B0604020202020204"/>
                <a:cs typeface="Helvetica" panose="020B0604020202020204"/>
              </a:rPr>
              <a:t>Input number of</a:t>
            </a:r>
          </a:p>
          <a:p>
            <a:pPr algn="ctr"/>
            <a:r>
              <a:rPr lang="en-GB" sz="1400" dirty="0">
                <a:latin typeface="Helvetica" panose="020B0604020202020204"/>
                <a:cs typeface="Helvetica" panose="020B0604020202020204"/>
              </a:rPr>
              <a:t> representative </a:t>
            </a:r>
          </a:p>
          <a:p>
            <a:pPr algn="ctr"/>
            <a:r>
              <a:rPr lang="en-GB" sz="1400" dirty="0">
                <a:latin typeface="Helvetica" panose="020B0604020202020204"/>
                <a:cs typeface="Helvetica" panose="020B0604020202020204"/>
              </a:rPr>
              <a:t>day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BF517928-557A-7FB3-8AC8-A6E077564774}"/>
              </a:ext>
            </a:extLst>
          </p:cNvPr>
          <p:cNvSpPr txBox="1"/>
          <p:nvPr/>
        </p:nvSpPr>
        <p:spPr>
          <a:xfrm>
            <a:off x="15507075" y="3282570"/>
            <a:ext cx="15053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500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Clustering and Scenario</a:t>
            </a:r>
          </a:p>
        </p:txBody>
      </p:sp>
      <p:sp>
        <p:nvSpPr>
          <p:cNvPr id="259" name="Cube 258">
            <a:extLst>
              <a:ext uri="{FF2B5EF4-FFF2-40B4-BE49-F238E27FC236}">
                <a16:creationId xmlns:a16="http://schemas.microsoft.com/office/drawing/2014/main" id="{FA91F24B-1B3D-16A2-F2A7-6F0EA8014E04}"/>
              </a:ext>
            </a:extLst>
          </p:cNvPr>
          <p:cNvSpPr/>
          <p:nvPr/>
        </p:nvSpPr>
        <p:spPr>
          <a:xfrm>
            <a:off x="12740641" y="333216"/>
            <a:ext cx="2802383" cy="5741645"/>
          </a:xfrm>
          <a:prstGeom prst="cube">
            <a:avLst>
              <a:gd name="adj" fmla="val 0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0" name="Rectangle: Rounded Corners 259">
            <a:extLst>
              <a:ext uri="{FF2B5EF4-FFF2-40B4-BE49-F238E27FC236}">
                <a16:creationId xmlns:a16="http://schemas.microsoft.com/office/drawing/2014/main" id="{82DA9831-8B09-C735-1EFA-882A29521662}"/>
              </a:ext>
            </a:extLst>
          </p:cNvPr>
          <p:cNvSpPr/>
          <p:nvPr/>
        </p:nvSpPr>
        <p:spPr>
          <a:xfrm>
            <a:off x="12803393" y="1031113"/>
            <a:ext cx="726299" cy="270252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61" name="Rectangle: Rounded Corners 260">
            <a:extLst>
              <a:ext uri="{FF2B5EF4-FFF2-40B4-BE49-F238E27FC236}">
                <a16:creationId xmlns:a16="http://schemas.microsoft.com/office/drawing/2014/main" id="{6B59918C-2177-C5E4-F4F7-F32049C29988}"/>
              </a:ext>
            </a:extLst>
          </p:cNvPr>
          <p:cNvSpPr/>
          <p:nvPr/>
        </p:nvSpPr>
        <p:spPr>
          <a:xfrm>
            <a:off x="12794054" y="2761590"/>
            <a:ext cx="1025220" cy="347704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C8F87DE7-6B17-8468-E0E4-CBE58BF9544E}"/>
              </a:ext>
            </a:extLst>
          </p:cNvPr>
          <p:cNvSpPr/>
          <p:nvPr/>
        </p:nvSpPr>
        <p:spPr>
          <a:xfrm>
            <a:off x="12732190" y="377021"/>
            <a:ext cx="2832208" cy="5517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3A043709-F421-1583-8A42-8D94661E46A7}"/>
              </a:ext>
            </a:extLst>
          </p:cNvPr>
          <p:cNvSpPr txBox="1"/>
          <p:nvPr/>
        </p:nvSpPr>
        <p:spPr>
          <a:xfrm>
            <a:off x="12770072" y="991667"/>
            <a:ext cx="7262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Helvetica" panose="020B0604020202020204"/>
                <a:cs typeface="Helvetica" panose="020B0604020202020204"/>
              </a:rPr>
              <a:t>Solar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288F8F21-986F-006E-F610-E6ECAEB9E03E}"/>
              </a:ext>
            </a:extLst>
          </p:cNvPr>
          <p:cNvSpPr txBox="1"/>
          <p:nvPr/>
        </p:nvSpPr>
        <p:spPr>
          <a:xfrm>
            <a:off x="12937403" y="355323"/>
            <a:ext cx="2438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500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Input data: List of Components</a:t>
            </a:r>
          </a:p>
        </p:txBody>
      </p:sp>
      <p:sp>
        <p:nvSpPr>
          <p:cNvPr id="268" name="Cube 267">
            <a:extLst>
              <a:ext uri="{FF2B5EF4-FFF2-40B4-BE49-F238E27FC236}">
                <a16:creationId xmlns:a16="http://schemas.microsoft.com/office/drawing/2014/main" id="{B5B66304-EA0A-65D8-D88D-7500AD310D1F}"/>
              </a:ext>
            </a:extLst>
          </p:cNvPr>
          <p:cNvSpPr/>
          <p:nvPr/>
        </p:nvSpPr>
        <p:spPr>
          <a:xfrm>
            <a:off x="17004559" y="3208799"/>
            <a:ext cx="1214516" cy="2833142"/>
          </a:xfrm>
          <a:prstGeom prst="cube">
            <a:avLst>
              <a:gd name="adj" fmla="val 0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E11A5486-F87C-FBFB-2BC8-D7ECE1487EB7}"/>
              </a:ext>
            </a:extLst>
          </p:cNvPr>
          <p:cNvSpPr/>
          <p:nvPr/>
        </p:nvSpPr>
        <p:spPr>
          <a:xfrm>
            <a:off x="16879691" y="3272353"/>
            <a:ext cx="1343979" cy="5517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831624A6-A533-C9FD-682C-DDA3B74E51E7}"/>
              </a:ext>
            </a:extLst>
          </p:cNvPr>
          <p:cNvSpPr txBox="1"/>
          <p:nvPr/>
        </p:nvSpPr>
        <p:spPr>
          <a:xfrm>
            <a:off x="16843147" y="3237211"/>
            <a:ext cx="15053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Execute the model</a:t>
            </a:r>
          </a:p>
        </p:txBody>
      </p:sp>
      <p:sp>
        <p:nvSpPr>
          <p:cNvPr id="277" name="Rectangle: Rounded Corners 276">
            <a:extLst>
              <a:ext uri="{FF2B5EF4-FFF2-40B4-BE49-F238E27FC236}">
                <a16:creationId xmlns:a16="http://schemas.microsoft.com/office/drawing/2014/main" id="{8B98501C-3890-1D11-BDE6-4C221BE7D3D9}"/>
              </a:ext>
            </a:extLst>
          </p:cNvPr>
          <p:cNvSpPr/>
          <p:nvPr/>
        </p:nvSpPr>
        <p:spPr>
          <a:xfrm>
            <a:off x="17034346" y="3944604"/>
            <a:ext cx="1158212" cy="201359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BD286F78-2494-E90E-141F-56302DF5D538}"/>
              </a:ext>
            </a:extLst>
          </p:cNvPr>
          <p:cNvSpPr txBox="1"/>
          <p:nvPr/>
        </p:nvSpPr>
        <p:spPr>
          <a:xfrm>
            <a:off x="16967182" y="3900434"/>
            <a:ext cx="131639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Helvetica" panose="020B0604020202020204"/>
                <a:cs typeface="Helvetica" panose="020B0604020202020204"/>
              </a:rPr>
              <a:t>Sets, parameters, variables, objective and constraints are defined in Pyomo</a:t>
            </a:r>
          </a:p>
        </p:txBody>
      </p:sp>
      <p:sp>
        <p:nvSpPr>
          <p:cNvPr id="280" name="Cube 279">
            <a:extLst>
              <a:ext uri="{FF2B5EF4-FFF2-40B4-BE49-F238E27FC236}">
                <a16:creationId xmlns:a16="http://schemas.microsoft.com/office/drawing/2014/main" id="{33C0C70E-76D7-8A41-7DD4-D75BE37E1028}"/>
              </a:ext>
            </a:extLst>
          </p:cNvPr>
          <p:cNvSpPr/>
          <p:nvPr/>
        </p:nvSpPr>
        <p:spPr>
          <a:xfrm>
            <a:off x="18241377" y="3209564"/>
            <a:ext cx="1452269" cy="2833142"/>
          </a:xfrm>
          <a:prstGeom prst="cube">
            <a:avLst>
              <a:gd name="adj" fmla="val 0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CABBABDB-1A38-7BD5-2E74-FE63643DA5BD}"/>
              </a:ext>
            </a:extLst>
          </p:cNvPr>
          <p:cNvSpPr/>
          <p:nvPr/>
        </p:nvSpPr>
        <p:spPr>
          <a:xfrm>
            <a:off x="18218030" y="3271789"/>
            <a:ext cx="1505336" cy="5517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4E4ACC6A-ED89-6D17-2983-EF13463933BC}"/>
              </a:ext>
            </a:extLst>
          </p:cNvPr>
          <p:cNvSpPr txBox="1"/>
          <p:nvPr/>
        </p:nvSpPr>
        <p:spPr>
          <a:xfrm>
            <a:off x="18217603" y="3355427"/>
            <a:ext cx="1505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Select Solver</a:t>
            </a:r>
          </a:p>
        </p:txBody>
      </p:sp>
      <p:sp>
        <p:nvSpPr>
          <p:cNvPr id="284" name="Rectangle: Rounded Corners 283">
            <a:extLst>
              <a:ext uri="{FF2B5EF4-FFF2-40B4-BE49-F238E27FC236}">
                <a16:creationId xmlns:a16="http://schemas.microsoft.com/office/drawing/2014/main" id="{02B518D6-BC4E-1785-3912-F19F68D75EBC}"/>
              </a:ext>
            </a:extLst>
          </p:cNvPr>
          <p:cNvSpPr/>
          <p:nvPr/>
        </p:nvSpPr>
        <p:spPr>
          <a:xfrm>
            <a:off x="18275598" y="3930839"/>
            <a:ext cx="1380224" cy="4629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A1B92D78-0D4B-AE50-B550-65E57C8D18A4}"/>
              </a:ext>
            </a:extLst>
          </p:cNvPr>
          <p:cNvSpPr txBox="1"/>
          <p:nvPr/>
        </p:nvSpPr>
        <p:spPr>
          <a:xfrm>
            <a:off x="18144268" y="3882037"/>
            <a:ext cx="16443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500" dirty="0">
                <a:latin typeface="Helvetica" panose="020B0604020202020204"/>
                <a:cs typeface="Helvetica" panose="020B0604020202020204"/>
              </a:rPr>
              <a:t>Remote Server:</a:t>
            </a:r>
          </a:p>
          <a:p>
            <a:pPr algn="ctr"/>
            <a:r>
              <a:rPr lang="en-GB" sz="1500" dirty="0">
                <a:latin typeface="Helvetica" panose="020B0604020202020204"/>
                <a:cs typeface="Helvetica" panose="020B0604020202020204"/>
              </a:rPr>
              <a:t>NEOS</a:t>
            </a:r>
          </a:p>
        </p:txBody>
      </p:sp>
      <p:sp>
        <p:nvSpPr>
          <p:cNvPr id="286" name="Rectangle: Rounded Corners 285">
            <a:extLst>
              <a:ext uri="{FF2B5EF4-FFF2-40B4-BE49-F238E27FC236}">
                <a16:creationId xmlns:a16="http://schemas.microsoft.com/office/drawing/2014/main" id="{AEEE6D64-B0BF-3BE7-531D-C168C825BDF3}"/>
              </a:ext>
            </a:extLst>
          </p:cNvPr>
          <p:cNvSpPr/>
          <p:nvPr/>
        </p:nvSpPr>
        <p:spPr>
          <a:xfrm>
            <a:off x="18277221" y="4535575"/>
            <a:ext cx="1380224" cy="143234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0733C59A-34CA-BC9E-F36A-1BB0F0DD2E3D}"/>
              </a:ext>
            </a:extLst>
          </p:cNvPr>
          <p:cNvSpPr txBox="1"/>
          <p:nvPr/>
        </p:nvSpPr>
        <p:spPr>
          <a:xfrm>
            <a:off x="18277379" y="4597540"/>
            <a:ext cx="16443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>
                <a:latin typeface="Helvetica" panose="020B0604020202020204"/>
                <a:cs typeface="Helvetica" panose="020B0604020202020204"/>
              </a:rPr>
              <a:t>Host Machine: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GB" sz="1500" dirty="0" err="1">
                <a:latin typeface="Helvetica" panose="020B0604020202020204"/>
                <a:cs typeface="Helvetica" panose="020B0604020202020204"/>
              </a:rPr>
              <a:t>Gurobi</a:t>
            </a:r>
            <a:endParaRPr lang="en-GB" sz="1500" dirty="0">
              <a:latin typeface="Helvetica" panose="020B0604020202020204"/>
              <a:cs typeface="Helvetica" panose="020B0604020202020204"/>
            </a:endParaRP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GB" sz="1500" dirty="0">
                <a:latin typeface="Helvetica" panose="020B0604020202020204"/>
                <a:cs typeface="Helvetica" panose="020B0604020202020204"/>
              </a:rPr>
              <a:t>CPLEX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GB" sz="1500" dirty="0" err="1">
                <a:latin typeface="Helvetica" panose="020B0604020202020204"/>
                <a:cs typeface="Helvetica" panose="020B0604020202020204"/>
              </a:rPr>
              <a:t>HiGHS</a:t>
            </a:r>
            <a:endParaRPr lang="en-GB" sz="1500" dirty="0">
              <a:latin typeface="Helvetica" panose="020B0604020202020204"/>
              <a:cs typeface="Helvetica" panose="020B0604020202020204"/>
            </a:endParaRP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GB" sz="1500" dirty="0">
                <a:latin typeface="Helvetica" panose="020B0604020202020204"/>
                <a:cs typeface="Helvetica" panose="020B0604020202020204"/>
              </a:rPr>
              <a:t>GLPK</a:t>
            </a:r>
          </a:p>
        </p:txBody>
      </p:sp>
      <p:sp>
        <p:nvSpPr>
          <p:cNvPr id="288" name="Cube 287">
            <a:extLst>
              <a:ext uri="{FF2B5EF4-FFF2-40B4-BE49-F238E27FC236}">
                <a16:creationId xmlns:a16="http://schemas.microsoft.com/office/drawing/2014/main" id="{37B1E4A0-5A52-300D-4390-FF0ED0F3834B}"/>
              </a:ext>
            </a:extLst>
          </p:cNvPr>
          <p:cNvSpPr/>
          <p:nvPr/>
        </p:nvSpPr>
        <p:spPr>
          <a:xfrm>
            <a:off x="19700831" y="3205976"/>
            <a:ext cx="1475149" cy="2833142"/>
          </a:xfrm>
          <a:prstGeom prst="cube">
            <a:avLst>
              <a:gd name="adj" fmla="val 0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B3D6B3CD-35B4-5411-B0ED-D2FDC15232D5}"/>
              </a:ext>
            </a:extLst>
          </p:cNvPr>
          <p:cNvSpPr/>
          <p:nvPr/>
        </p:nvSpPr>
        <p:spPr>
          <a:xfrm>
            <a:off x="19677484" y="3268201"/>
            <a:ext cx="1505336" cy="5517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606A3AEB-B3BC-E061-4516-6EDE722DB6C6}"/>
              </a:ext>
            </a:extLst>
          </p:cNvPr>
          <p:cNvSpPr txBox="1"/>
          <p:nvPr/>
        </p:nvSpPr>
        <p:spPr>
          <a:xfrm>
            <a:off x="19677057" y="3351839"/>
            <a:ext cx="1505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Select Solver</a:t>
            </a:r>
          </a:p>
        </p:txBody>
      </p:sp>
      <p:sp>
        <p:nvSpPr>
          <p:cNvPr id="294" name="Rectangle: Rounded Corners 293">
            <a:extLst>
              <a:ext uri="{FF2B5EF4-FFF2-40B4-BE49-F238E27FC236}">
                <a16:creationId xmlns:a16="http://schemas.microsoft.com/office/drawing/2014/main" id="{6A4946C2-FCA5-8E93-F9BC-05707C5298D8}"/>
              </a:ext>
            </a:extLst>
          </p:cNvPr>
          <p:cNvSpPr/>
          <p:nvPr/>
        </p:nvSpPr>
        <p:spPr>
          <a:xfrm>
            <a:off x="19736674" y="3950970"/>
            <a:ext cx="1408825" cy="200193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E0164836-6860-C88F-53CF-22D06380033F}"/>
              </a:ext>
            </a:extLst>
          </p:cNvPr>
          <p:cNvSpPr txBox="1"/>
          <p:nvPr/>
        </p:nvSpPr>
        <p:spPr>
          <a:xfrm>
            <a:off x="19625332" y="4014997"/>
            <a:ext cx="16443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Helvetica" panose="020B0604020202020204"/>
                <a:cs typeface="Helvetica" panose="020B0604020202020204"/>
              </a:rPr>
              <a:t>The GUI visualises interactive results within the energy dashboard platform</a:t>
            </a:r>
          </a:p>
        </p:txBody>
      </p:sp>
      <p:sp>
        <p:nvSpPr>
          <p:cNvPr id="296" name="Rectangle: Rounded Corners 295">
            <a:extLst>
              <a:ext uri="{FF2B5EF4-FFF2-40B4-BE49-F238E27FC236}">
                <a16:creationId xmlns:a16="http://schemas.microsoft.com/office/drawing/2014/main" id="{1A69D199-3016-F312-B9BE-4097D3010A2B}"/>
              </a:ext>
            </a:extLst>
          </p:cNvPr>
          <p:cNvSpPr/>
          <p:nvPr/>
        </p:nvSpPr>
        <p:spPr>
          <a:xfrm>
            <a:off x="12787630" y="1341165"/>
            <a:ext cx="968104" cy="477125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1BC47F15-6A0E-27E7-E92A-249247361390}"/>
              </a:ext>
            </a:extLst>
          </p:cNvPr>
          <p:cNvSpPr txBox="1"/>
          <p:nvPr/>
        </p:nvSpPr>
        <p:spPr>
          <a:xfrm>
            <a:off x="12736829" y="1290854"/>
            <a:ext cx="10399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Helvetica" panose="020B0604020202020204"/>
                <a:cs typeface="Helvetica" panose="020B0604020202020204"/>
              </a:rPr>
              <a:t>Wind </a:t>
            </a:r>
          </a:p>
          <a:p>
            <a:pPr algn="ctr"/>
            <a:r>
              <a:rPr lang="en-GB" sz="1600" dirty="0">
                <a:latin typeface="Helvetica" panose="020B0604020202020204"/>
                <a:cs typeface="Helvetica" panose="020B0604020202020204"/>
              </a:rPr>
              <a:t>Onshore</a:t>
            </a:r>
          </a:p>
        </p:txBody>
      </p:sp>
      <p:sp>
        <p:nvSpPr>
          <p:cNvPr id="299" name="Rectangle: Rounded Corners 298">
            <a:extLst>
              <a:ext uri="{FF2B5EF4-FFF2-40B4-BE49-F238E27FC236}">
                <a16:creationId xmlns:a16="http://schemas.microsoft.com/office/drawing/2014/main" id="{0C367D12-B1CD-0C1A-65A5-3234DED75BA2}"/>
              </a:ext>
            </a:extLst>
          </p:cNvPr>
          <p:cNvSpPr/>
          <p:nvPr/>
        </p:nvSpPr>
        <p:spPr>
          <a:xfrm>
            <a:off x="12792889" y="1871938"/>
            <a:ext cx="968104" cy="477125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E3533A4A-AD0C-8E7D-9DA1-68C0E5B8C1E2}"/>
              </a:ext>
            </a:extLst>
          </p:cNvPr>
          <p:cNvSpPr txBox="1"/>
          <p:nvPr/>
        </p:nvSpPr>
        <p:spPr>
          <a:xfrm>
            <a:off x="12742085" y="1811115"/>
            <a:ext cx="10399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Helvetica" panose="020B0604020202020204"/>
                <a:cs typeface="Helvetica" panose="020B0604020202020204"/>
              </a:rPr>
              <a:t>Wind </a:t>
            </a:r>
          </a:p>
          <a:p>
            <a:pPr algn="ctr"/>
            <a:r>
              <a:rPr lang="en-GB" sz="1600" dirty="0">
                <a:latin typeface="Helvetica" panose="020B0604020202020204"/>
                <a:cs typeface="Helvetica" panose="020B0604020202020204"/>
              </a:rPr>
              <a:t>Offshore</a:t>
            </a:r>
          </a:p>
        </p:txBody>
      </p:sp>
      <p:sp>
        <p:nvSpPr>
          <p:cNvPr id="301" name="Rectangle: Rounded Corners 300">
            <a:extLst>
              <a:ext uri="{FF2B5EF4-FFF2-40B4-BE49-F238E27FC236}">
                <a16:creationId xmlns:a16="http://schemas.microsoft.com/office/drawing/2014/main" id="{0464C844-6D70-DCF2-6D7C-89D431D02234}"/>
              </a:ext>
            </a:extLst>
          </p:cNvPr>
          <p:cNvSpPr/>
          <p:nvPr/>
        </p:nvSpPr>
        <p:spPr>
          <a:xfrm>
            <a:off x="12829671" y="2402714"/>
            <a:ext cx="726299" cy="270252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8FC9F5F6-D766-6BE9-DF53-2D0E24BB2FEE}"/>
              </a:ext>
            </a:extLst>
          </p:cNvPr>
          <p:cNvSpPr txBox="1"/>
          <p:nvPr/>
        </p:nvSpPr>
        <p:spPr>
          <a:xfrm>
            <a:off x="12848902" y="2363263"/>
            <a:ext cx="7262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Helvetica" panose="020B0604020202020204"/>
                <a:cs typeface="Helvetica" panose="020B0604020202020204"/>
              </a:rPr>
              <a:t>Hydro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FAA64A87-BDF1-3C97-BE2D-BFA6C0D32506}"/>
              </a:ext>
            </a:extLst>
          </p:cNvPr>
          <p:cNvSpPr txBox="1"/>
          <p:nvPr/>
        </p:nvSpPr>
        <p:spPr>
          <a:xfrm>
            <a:off x="12646026" y="2770094"/>
            <a:ext cx="12984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Helvetica" panose="020B0604020202020204"/>
                <a:cs typeface="Helvetica" panose="020B0604020202020204"/>
              </a:rPr>
              <a:t>Gas Boiler</a:t>
            </a:r>
          </a:p>
        </p:txBody>
      </p:sp>
      <p:sp>
        <p:nvSpPr>
          <p:cNvPr id="305" name="Rectangle: Rounded Corners 304">
            <a:extLst>
              <a:ext uri="{FF2B5EF4-FFF2-40B4-BE49-F238E27FC236}">
                <a16:creationId xmlns:a16="http://schemas.microsoft.com/office/drawing/2014/main" id="{F7AEB79C-B5EB-77D7-071F-D40AB659834F}"/>
              </a:ext>
            </a:extLst>
          </p:cNvPr>
          <p:cNvSpPr/>
          <p:nvPr/>
        </p:nvSpPr>
        <p:spPr>
          <a:xfrm>
            <a:off x="12788802" y="3176744"/>
            <a:ext cx="1025220" cy="347704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06" name="Rectangle: Rounded Corners 305">
            <a:extLst>
              <a:ext uri="{FF2B5EF4-FFF2-40B4-BE49-F238E27FC236}">
                <a16:creationId xmlns:a16="http://schemas.microsoft.com/office/drawing/2014/main" id="{8E643711-4FA5-F2F7-CE0B-D69CC53EFDD3}"/>
              </a:ext>
            </a:extLst>
          </p:cNvPr>
          <p:cNvSpPr/>
          <p:nvPr/>
        </p:nvSpPr>
        <p:spPr>
          <a:xfrm>
            <a:off x="12783670" y="3570883"/>
            <a:ext cx="1178978" cy="347704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2C445B6F-16BF-2970-D684-A400289513CA}"/>
              </a:ext>
            </a:extLst>
          </p:cNvPr>
          <p:cNvSpPr txBox="1"/>
          <p:nvPr/>
        </p:nvSpPr>
        <p:spPr>
          <a:xfrm>
            <a:off x="12651281" y="3185249"/>
            <a:ext cx="12984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Helvetica" panose="020B0604020202020204"/>
                <a:cs typeface="Helvetica" panose="020B0604020202020204"/>
              </a:rPr>
              <a:t>H2 Boiler</a:t>
            </a: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B9399AAD-1B56-6CA6-8B12-C618B31C3A86}"/>
              </a:ext>
            </a:extLst>
          </p:cNvPr>
          <p:cNvSpPr txBox="1"/>
          <p:nvPr/>
        </p:nvSpPr>
        <p:spPr>
          <a:xfrm>
            <a:off x="12677560" y="3574814"/>
            <a:ext cx="1371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Helvetica" panose="020B0604020202020204"/>
                <a:cs typeface="Helvetica" panose="020B0604020202020204"/>
              </a:rPr>
              <a:t>Hybrid Boiler</a:t>
            </a:r>
          </a:p>
        </p:txBody>
      </p:sp>
      <p:sp>
        <p:nvSpPr>
          <p:cNvPr id="310" name="Rectangle: Rounded Corners 309">
            <a:extLst>
              <a:ext uri="{FF2B5EF4-FFF2-40B4-BE49-F238E27FC236}">
                <a16:creationId xmlns:a16="http://schemas.microsoft.com/office/drawing/2014/main" id="{36D1C947-582A-1E60-1C6B-FE46BCFF6A37}"/>
              </a:ext>
            </a:extLst>
          </p:cNvPr>
          <p:cNvSpPr/>
          <p:nvPr/>
        </p:nvSpPr>
        <p:spPr>
          <a:xfrm>
            <a:off x="12793635" y="3986741"/>
            <a:ext cx="816406" cy="347704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11" name="Rectangle: Rounded Corners 310">
            <a:extLst>
              <a:ext uri="{FF2B5EF4-FFF2-40B4-BE49-F238E27FC236}">
                <a16:creationId xmlns:a16="http://schemas.microsoft.com/office/drawing/2014/main" id="{EF137206-78C7-3BDD-DFD1-67394AA965CB}"/>
              </a:ext>
            </a:extLst>
          </p:cNvPr>
          <p:cNvSpPr/>
          <p:nvPr/>
        </p:nvSpPr>
        <p:spPr>
          <a:xfrm>
            <a:off x="12781505" y="4406852"/>
            <a:ext cx="1032541" cy="347704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12" name="Rectangle: Rounded Corners 311">
            <a:extLst>
              <a:ext uri="{FF2B5EF4-FFF2-40B4-BE49-F238E27FC236}">
                <a16:creationId xmlns:a16="http://schemas.microsoft.com/office/drawing/2014/main" id="{B0D4CFF3-E7CC-A4D3-E161-583530C807CA}"/>
              </a:ext>
            </a:extLst>
          </p:cNvPr>
          <p:cNvSpPr/>
          <p:nvPr/>
        </p:nvSpPr>
        <p:spPr>
          <a:xfrm>
            <a:off x="13830504" y="1035067"/>
            <a:ext cx="875309" cy="26629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87FD4F78-CE97-910C-B236-0C9E7E886FB8}"/>
              </a:ext>
            </a:extLst>
          </p:cNvPr>
          <p:cNvSpPr txBox="1"/>
          <p:nvPr/>
        </p:nvSpPr>
        <p:spPr>
          <a:xfrm>
            <a:off x="12698576" y="3989289"/>
            <a:ext cx="10409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Helvetica" panose="020B0604020202020204"/>
                <a:cs typeface="Helvetica" panose="020B0604020202020204"/>
              </a:rPr>
              <a:t>ASHP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2D7A388F-675C-A7FE-028C-606858F15234}"/>
              </a:ext>
            </a:extLst>
          </p:cNvPr>
          <p:cNvSpPr txBox="1"/>
          <p:nvPr/>
        </p:nvSpPr>
        <p:spPr>
          <a:xfrm>
            <a:off x="12693323" y="4393934"/>
            <a:ext cx="1167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Helvetica" panose="020B0604020202020204"/>
                <a:cs typeface="Helvetica" panose="020B0604020202020204"/>
              </a:rPr>
              <a:t>H2-ASHP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F6C618EE-82CC-D8D1-CD97-9755A10ADCBC}"/>
              </a:ext>
            </a:extLst>
          </p:cNvPr>
          <p:cNvSpPr txBox="1"/>
          <p:nvPr/>
        </p:nvSpPr>
        <p:spPr>
          <a:xfrm>
            <a:off x="13814153" y="993026"/>
            <a:ext cx="9133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Helvetica" panose="020B0604020202020204"/>
                <a:cs typeface="Helvetica" panose="020B0604020202020204"/>
              </a:rPr>
              <a:t>Nuclear</a:t>
            </a:r>
          </a:p>
        </p:txBody>
      </p:sp>
      <p:sp>
        <p:nvSpPr>
          <p:cNvPr id="317" name="Rectangle: Rounded Corners 316">
            <a:extLst>
              <a:ext uri="{FF2B5EF4-FFF2-40B4-BE49-F238E27FC236}">
                <a16:creationId xmlns:a16="http://schemas.microsoft.com/office/drawing/2014/main" id="{AA7ECC5F-FF48-CD07-887D-F51BDBF3C0A7}"/>
              </a:ext>
            </a:extLst>
          </p:cNvPr>
          <p:cNvSpPr/>
          <p:nvPr/>
        </p:nvSpPr>
        <p:spPr>
          <a:xfrm>
            <a:off x="14755436" y="1029814"/>
            <a:ext cx="726299" cy="26629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18" name="Rectangle: Rounded Corners 317">
            <a:extLst>
              <a:ext uri="{FF2B5EF4-FFF2-40B4-BE49-F238E27FC236}">
                <a16:creationId xmlns:a16="http://schemas.microsoft.com/office/drawing/2014/main" id="{004228AD-7EE2-FB90-2F4E-8B0153E4C7E4}"/>
              </a:ext>
            </a:extLst>
          </p:cNvPr>
          <p:cNvSpPr/>
          <p:nvPr/>
        </p:nvSpPr>
        <p:spPr>
          <a:xfrm>
            <a:off x="14771203" y="1371401"/>
            <a:ext cx="726299" cy="26629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18B1A788-D41A-AF83-8877-C5149CF7FCDB}"/>
              </a:ext>
            </a:extLst>
          </p:cNvPr>
          <p:cNvSpPr txBox="1"/>
          <p:nvPr/>
        </p:nvSpPr>
        <p:spPr>
          <a:xfrm>
            <a:off x="14660233" y="1008790"/>
            <a:ext cx="9133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Helvetica" panose="020B0604020202020204"/>
                <a:cs typeface="Helvetica" panose="020B0604020202020204"/>
              </a:rPr>
              <a:t>CCGT</a:t>
            </a:r>
          </a:p>
        </p:txBody>
      </p:sp>
      <p:sp>
        <p:nvSpPr>
          <p:cNvPr id="2055" name="Rectangle: Rounded Corners 2054">
            <a:extLst>
              <a:ext uri="{FF2B5EF4-FFF2-40B4-BE49-F238E27FC236}">
                <a16:creationId xmlns:a16="http://schemas.microsoft.com/office/drawing/2014/main" id="{89A8C013-4ABB-3FAA-A87B-63AEB30CEE98}"/>
              </a:ext>
            </a:extLst>
          </p:cNvPr>
          <p:cNvSpPr/>
          <p:nvPr/>
        </p:nvSpPr>
        <p:spPr>
          <a:xfrm>
            <a:off x="13797774" y="1378012"/>
            <a:ext cx="939569" cy="26629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056" name="Rectangle: Rounded Corners 2055">
            <a:extLst>
              <a:ext uri="{FF2B5EF4-FFF2-40B4-BE49-F238E27FC236}">
                <a16:creationId xmlns:a16="http://schemas.microsoft.com/office/drawing/2014/main" id="{731FDFE2-1A58-77CA-E9CC-65D667C83A4E}"/>
              </a:ext>
            </a:extLst>
          </p:cNvPr>
          <p:cNvSpPr/>
          <p:nvPr/>
        </p:nvSpPr>
        <p:spPr>
          <a:xfrm>
            <a:off x="13855158" y="1734111"/>
            <a:ext cx="726299" cy="26629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057" name="TextBox 2056">
            <a:extLst>
              <a:ext uri="{FF2B5EF4-FFF2-40B4-BE49-F238E27FC236}">
                <a16:creationId xmlns:a16="http://schemas.microsoft.com/office/drawing/2014/main" id="{493C996D-E1EC-983F-03B5-80008F8E3CE5}"/>
              </a:ext>
            </a:extLst>
          </p:cNvPr>
          <p:cNvSpPr txBox="1"/>
          <p:nvPr/>
        </p:nvSpPr>
        <p:spPr>
          <a:xfrm>
            <a:off x="14697018" y="1329356"/>
            <a:ext cx="9133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Helvetica" panose="020B0604020202020204"/>
                <a:cs typeface="Helvetica" panose="020B0604020202020204"/>
              </a:rPr>
              <a:t>OCGT</a:t>
            </a:r>
          </a:p>
        </p:txBody>
      </p:sp>
      <p:sp>
        <p:nvSpPr>
          <p:cNvPr id="2058" name="TextBox 2057">
            <a:extLst>
              <a:ext uri="{FF2B5EF4-FFF2-40B4-BE49-F238E27FC236}">
                <a16:creationId xmlns:a16="http://schemas.microsoft.com/office/drawing/2014/main" id="{9E31334D-B3F9-10C3-2BE0-398C6544585D}"/>
              </a:ext>
            </a:extLst>
          </p:cNvPr>
          <p:cNvSpPr txBox="1"/>
          <p:nvPr/>
        </p:nvSpPr>
        <p:spPr>
          <a:xfrm>
            <a:off x="13645989" y="1350376"/>
            <a:ext cx="12261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Helvetica" panose="020B0604020202020204"/>
                <a:cs typeface="Helvetica" panose="020B0604020202020204"/>
              </a:rPr>
              <a:t>CCGTCCS</a:t>
            </a:r>
          </a:p>
        </p:txBody>
      </p:sp>
      <p:sp>
        <p:nvSpPr>
          <p:cNvPr id="2059" name="Rectangle: Rounded Corners 2058">
            <a:extLst>
              <a:ext uri="{FF2B5EF4-FFF2-40B4-BE49-F238E27FC236}">
                <a16:creationId xmlns:a16="http://schemas.microsoft.com/office/drawing/2014/main" id="{4D86397B-93B5-8D0E-C93D-93A2F988602B}"/>
              </a:ext>
            </a:extLst>
          </p:cNvPr>
          <p:cNvSpPr/>
          <p:nvPr/>
        </p:nvSpPr>
        <p:spPr>
          <a:xfrm>
            <a:off x="14634007" y="1733525"/>
            <a:ext cx="852497" cy="26629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060" name="TextBox 2059">
            <a:extLst>
              <a:ext uri="{FF2B5EF4-FFF2-40B4-BE49-F238E27FC236}">
                <a16:creationId xmlns:a16="http://schemas.microsoft.com/office/drawing/2014/main" id="{3B10588C-BFED-B4A9-EAB0-ED1DCD86FC25}"/>
              </a:ext>
            </a:extLst>
          </p:cNvPr>
          <p:cNvSpPr txBox="1"/>
          <p:nvPr/>
        </p:nvSpPr>
        <p:spPr>
          <a:xfrm>
            <a:off x="14540844" y="1703348"/>
            <a:ext cx="10429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Helvetica" panose="020B0604020202020204"/>
                <a:cs typeface="Helvetica" panose="020B0604020202020204"/>
              </a:rPr>
              <a:t>H2CCGT</a:t>
            </a:r>
          </a:p>
        </p:txBody>
      </p:sp>
      <p:sp>
        <p:nvSpPr>
          <p:cNvPr id="2061" name="Rectangle: Rounded Corners 2060">
            <a:extLst>
              <a:ext uri="{FF2B5EF4-FFF2-40B4-BE49-F238E27FC236}">
                <a16:creationId xmlns:a16="http://schemas.microsoft.com/office/drawing/2014/main" id="{0CB89D88-106D-573F-7B84-458A6CD1D34A}"/>
              </a:ext>
            </a:extLst>
          </p:cNvPr>
          <p:cNvSpPr/>
          <p:nvPr/>
        </p:nvSpPr>
        <p:spPr>
          <a:xfrm>
            <a:off x="13811819" y="2063141"/>
            <a:ext cx="851954" cy="26629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062" name="TextBox 2061">
            <a:extLst>
              <a:ext uri="{FF2B5EF4-FFF2-40B4-BE49-F238E27FC236}">
                <a16:creationId xmlns:a16="http://schemas.microsoft.com/office/drawing/2014/main" id="{044597E9-4141-44AB-8D5F-18DFD8AB9CF8}"/>
              </a:ext>
            </a:extLst>
          </p:cNvPr>
          <p:cNvSpPr txBox="1"/>
          <p:nvPr/>
        </p:nvSpPr>
        <p:spPr>
          <a:xfrm>
            <a:off x="13716388" y="1693173"/>
            <a:ext cx="10429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Helvetica" panose="020B0604020202020204"/>
                <a:cs typeface="Helvetica" panose="020B0604020202020204"/>
              </a:rPr>
              <a:t>Coal</a:t>
            </a:r>
          </a:p>
        </p:txBody>
      </p:sp>
      <p:sp>
        <p:nvSpPr>
          <p:cNvPr id="2063" name="TextBox 2062">
            <a:extLst>
              <a:ext uri="{FF2B5EF4-FFF2-40B4-BE49-F238E27FC236}">
                <a16:creationId xmlns:a16="http://schemas.microsoft.com/office/drawing/2014/main" id="{9250850B-DF7A-4B56-820F-0446C113A19D}"/>
              </a:ext>
            </a:extLst>
          </p:cNvPr>
          <p:cNvSpPr txBox="1"/>
          <p:nvPr/>
        </p:nvSpPr>
        <p:spPr>
          <a:xfrm>
            <a:off x="13716388" y="2028886"/>
            <a:ext cx="10429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Helvetica" panose="020B0604020202020204"/>
                <a:cs typeface="Helvetica" panose="020B0604020202020204"/>
              </a:rPr>
              <a:t>Fuel Cell</a:t>
            </a:r>
          </a:p>
        </p:txBody>
      </p:sp>
      <p:sp>
        <p:nvSpPr>
          <p:cNvPr id="2064" name="Rectangle: Rounded Corners 2063">
            <a:extLst>
              <a:ext uri="{FF2B5EF4-FFF2-40B4-BE49-F238E27FC236}">
                <a16:creationId xmlns:a16="http://schemas.microsoft.com/office/drawing/2014/main" id="{11EA5341-8140-B1D1-8030-84309ACE7751}"/>
              </a:ext>
            </a:extLst>
          </p:cNvPr>
          <p:cNvSpPr/>
          <p:nvPr/>
        </p:nvSpPr>
        <p:spPr>
          <a:xfrm>
            <a:off x="14705813" y="2057891"/>
            <a:ext cx="772975" cy="26629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065" name="TextBox 2064">
            <a:extLst>
              <a:ext uri="{FF2B5EF4-FFF2-40B4-BE49-F238E27FC236}">
                <a16:creationId xmlns:a16="http://schemas.microsoft.com/office/drawing/2014/main" id="{6A43850B-ED73-B2D5-214C-0F331058B751}"/>
              </a:ext>
            </a:extLst>
          </p:cNvPr>
          <p:cNvSpPr txBox="1"/>
          <p:nvPr/>
        </p:nvSpPr>
        <p:spPr>
          <a:xfrm>
            <a:off x="14577427" y="2027736"/>
            <a:ext cx="10429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Helvetica" panose="020B0604020202020204"/>
                <a:cs typeface="Helvetica" panose="020B0604020202020204"/>
              </a:rPr>
              <a:t>Biomass</a:t>
            </a:r>
          </a:p>
        </p:txBody>
      </p:sp>
      <p:sp>
        <p:nvSpPr>
          <p:cNvPr id="2066" name="Rectangle: Rounded Corners 2065">
            <a:extLst>
              <a:ext uri="{FF2B5EF4-FFF2-40B4-BE49-F238E27FC236}">
                <a16:creationId xmlns:a16="http://schemas.microsoft.com/office/drawing/2014/main" id="{47401679-1A16-18F1-1306-11C2FDAE834E}"/>
              </a:ext>
            </a:extLst>
          </p:cNvPr>
          <p:cNvSpPr/>
          <p:nvPr/>
        </p:nvSpPr>
        <p:spPr>
          <a:xfrm>
            <a:off x="14399171" y="2409005"/>
            <a:ext cx="1038346" cy="347704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067" name="Rectangle: Rounded Corners 2066">
            <a:extLst>
              <a:ext uri="{FF2B5EF4-FFF2-40B4-BE49-F238E27FC236}">
                <a16:creationId xmlns:a16="http://schemas.microsoft.com/office/drawing/2014/main" id="{8B715B43-93CA-8440-159B-59C4CFD62254}"/>
              </a:ext>
            </a:extLst>
          </p:cNvPr>
          <p:cNvSpPr/>
          <p:nvPr/>
        </p:nvSpPr>
        <p:spPr>
          <a:xfrm>
            <a:off x="14361107" y="3587993"/>
            <a:ext cx="1103869" cy="347704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068" name="Rectangle: Rounded Corners 2067">
            <a:extLst>
              <a:ext uri="{FF2B5EF4-FFF2-40B4-BE49-F238E27FC236}">
                <a16:creationId xmlns:a16="http://schemas.microsoft.com/office/drawing/2014/main" id="{4FE23F21-AA22-519C-F765-66EA4219D079}"/>
              </a:ext>
            </a:extLst>
          </p:cNvPr>
          <p:cNvSpPr/>
          <p:nvPr/>
        </p:nvSpPr>
        <p:spPr>
          <a:xfrm>
            <a:off x="13923612" y="4006366"/>
            <a:ext cx="1588979" cy="357662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069" name="Rectangle: Rounded Corners 2068">
            <a:extLst>
              <a:ext uri="{FF2B5EF4-FFF2-40B4-BE49-F238E27FC236}">
                <a16:creationId xmlns:a16="http://schemas.microsoft.com/office/drawing/2014/main" id="{C4A94297-F421-EC1F-7ECD-DDAACB1BC433}"/>
              </a:ext>
            </a:extLst>
          </p:cNvPr>
          <p:cNvSpPr/>
          <p:nvPr/>
        </p:nvSpPr>
        <p:spPr>
          <a:xfrm>
            <a:off x="14460087" y="2796872"/>
            <a:ext cx="969455" cy="347704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070" name="TextBox 2069">
            <a:extLst>
              <a:ext uri="{FF2B5EF4-FFF2-40B4-BE49-F238E27FC236}">
                <a16:creationId xmlns:a16="http://schemas.microsoft.com/office/drawing/2014/main" id="{A66D54BC-6287-C3CD-99B2-73B26F516629}"/>
              </a:ext>
            </a:extLst>
          </p:cNvPr>
          <p:cNvSpPr txBox="1"/>
          <p:nvPr/>
        </p:nvSpPr>
        <p:spPr>
          <a:xfrm>
            <a:off x="14362769" y="2402003"/>
            <a:ext cx="1129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Helvetica" panose="020B0604020202020204"/>
                <a:cs typeface="Helvetica" panose="020B0604020202020204"/>
              </a:rPr>
              <a:t>SMRCCS</a:t>
            </a:r>
          </a:p>
        </p:txBody>
      </p:sp>
      <p:sp>
        <p:nvSpPr>
          <p:cNvPr id="2071" name="TextBox 2070">
            <a:extLst>
              <a:ext uri="{FF2B5EF4-FFF2-40B4-BE49-F238E27FC236}">
                <a16:creationId xmlns:a16="http://schemas.microsoft.com/office/drawing/2014/main" id="{AC07E2A3-4B98-620C-8BFE-8A64A362C31C}"/>
              </a:ext>
            </a:extLst>
          </p:cNvPr>
          <p:cNvSpPr txBox="1"/>
          <p:nvPr/>
        </p:nvSpPr>
        <p:spPr>
          <a:xfrm>
            <a:off x="14421305" y="2801624"/>
            <a:ext cx="1129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Helvetica" panose="020B0604020202020204"/>
                <a:cs typeface="Helvetica" panose="020B0604020202020204"/>
              </a:rPr>
              <a:t>ATRCCS</a:t>
            </a:r>
          </a:p>
        </p:txBody>
      </p:sp>
      <p:sp>
        <p:nvSpPr>
          <p:cNvPr id="2072" name="Rectangle: Rounded Corners 2071">
            <a:extLst>
              <a:ext uri="{FF2B5EF4-FFF2-40B4-BE49-F238E27FC236}">
                <a16:creationId xmlns:a16="http://schemas.microsoft.com/office/drawing/2014/main" id="{71E9479E-8C3B-E41B-ABF0-21B8CA34CDEC}"/>
              </a:ext>
            </a:extLst>
          </p:cNvPr>
          <p:cNvSpPr/>
          <p:nvPr/>
        </p:nvSpPr>
        <p:spPr>
          <a:xfrm>
            <a:off x="14486365" y="3180496"/>
            <a:ext cx="969455" cy="347704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073" name="TextBox 2072">
            <a:extLst>
              <a:ext uri="{FF2B5EF4-FFF2-40B4-BE49-F238E27FC236}">
                <a16:creationId xmlns:a16="http://schemas.microsoft.com/office/drawing/2014/main" id="{89206D5D-72DA-518B-24F2-45CE3A073ABD}"/>
              </a:ext>
            </a:extLst>
          </p:cNvPr>
          <p:cNvSpPr txBox="1"/>
          <p:nvPr/>
        </p:nvSpPr>
        <p:spPr>
          <a:xfrm>
            <a:off x="14416052" y="3185249"/>
            <a:ext cx="1129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Helvetica" panose="020B0604020202020204"/>
                <a:cs typeface="Helvetica" panose="020B0604020202020204"/>
              </a:rPr>
              <a:t>BECCS</a:t>
            </a:r>
          </a:p>
        </p:txBody>
      </p:sp>
      <p:sp>
        <p:nvSpPr>
          <p:cNvPr id="2074" name="TextBox 2073">
            <a:extLst>
              <a:ext uri="{FF2B5EF4-FFF2-40B4-BE49-F238E27FC236}">
                <a16:creationId xmlns:a16="http://schemas.microsoft.com/office/drawing/2014/main" id="{BC2B3552-7C0E-9297-7C4E-C47287572581}"/>
              </a:ext>
            </a:extLst>
          </p:cNvPr>
          <p:cNvSpPr txBox="1"/>
          <p:nvPr/>
        </p:nvSpPr>
        <p:spPr>
          <a:xfrm>
            <a:off x="14256128" y="3587567"/>
            <a:ext cx="12868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Helvetica" panose="020B0604020202020204"/>
                <a:cs typeface="Helvetica" panose="020B0604020202020204"/>
              </a:rPr>
              <a:t>Electrolyser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E05CB3-3187-FC7A-4DD0-5B36C1C849D2}"/>
              </a:ext>
            </a:extLst>
          </p:cNvPr>
          <p:cNvSpPr txBox="1"/>
          <p:nvPr/>
        </p:nvSpPr>
        <p:spPr>
          <a:xfrm>
            <a:off x="13830303" y="4037910"/>
            <a:ext cx="17727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Helvetica" panose="020B0604020202020204"/>
                <a:cs typeface="Helvetica" panose="020B0604020202020204"/>
              </a:rPr>
              <a:t>Importing Hydrogen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1474B29-D57A-F3FC-6909-ECFB23521DE0}"/>
              </a:ext>
            </a:extLst>
          </p:cNvPr>
          <p:cNvSpPr/>
          <p:nvPr/>
        </p:nvSpPr>
        <p:spPr>
          <a:xfrm>
            <a:off x="13920150" y="4428922"/>
            <a:ext cx="1588979" cy="302332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021958-6679-D326-05B7-28BCBC6A8C60}"/>
              </a:ext>
            </a:extLst>
          </p:cNvPr>
          <p:cNvSpPr txBox="1"/>
          <p:nvPr/>
        </p:nvSpPr>
        <p:spPr>
          <a:xfrm>
            <a:off x="13837235" y="4429298"/>
            <a:ext cx="17727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Helvetica" panose="020B0604020202020204"/>
                <a:cs typeface="Helvetica" panose="020B0604020202020204"/>
              </a:rPr>
              <a:t>Importing Power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D77AD54-58F9-D2F2-8E8C-1E2041B9CDA6}"/>
              </a:ext>
            </a:extLst>
          </p:cNvPr>
          <p:cNvSpPr/>
          <p:nvPr/>
        </p:nvSpPr>
        <p:spPr>
          <a:xfrm>
            <a:off x="14298765" y="4795918"/>
            <a:ext cx="1196755" cy="259258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0BF92D-1E66-4651-BE96-5D769054A543}"/>
              </a:ext>
            </a:extLst>
          </p:cNvPr>
          <p:cNvSpPr txBox="1"/>
          <p:nvPr/>
        </p:nvSpPr>
        <p:spPr>
          <a:xfrm>
            <a:off x="14264108" y="4773193"/>
            <a:ext cx="12777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Helvetica" panose="020B0604020202020204"/>
                <a:cs typeface="Helvetica" panose="020B0604020202020204"/>
              </a:rPr>
              <a:t>CO2 Pipeline 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0F762E9-F01F-7BCF-6021-220E400EAE5D}"/>
              </a:ext>
            </a:extLst>
          </p:cNvPr>
          <p:cNvSpPr/>
          <p:nvPr/>
        </p:nvSpPr>
        <p:spPr>
          <a:xfrm>
            <a:off x="14300498" y="5135349"/>
            <a:ext cx="1196755" cy="23796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A525DD0-CD88-3BBB-371B-9FDB6DA9739D}"/>
              </a:ext>
            </a:extLst>
          </p:cNvPr>
          <p:cNvSpPr/>
          <p:nvPr/>
        </p:nvSpPr>
        <p:spPr>
          <a:xfrm>
            <a:off x="14302234" y="5443620"/>
            <a:ext cx="1196755" cy="255795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9DD9A3A-D4E8-EF45-FA50-A695825BF621}"/>
              </a:ext>
            </a:extLst>
          </p:cNvPr>
          <p:cNvSpPr/>
          <p:nvPr/>
        </p:nvSpPr>
        <p:spPr>
          <a:xfrm>
            <a:off x="14303965" y="5767467"/>
            <a:ext cx="1196755" cy="255795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C463F3-A452-3F54-7460-2533BBAF48CD}"/>
              </a:ext>
            </a:extLst>
          </p:cNvPr>
          <p:cNvSpPr txBox="1"/>
          <p:nvPr/>
        </p:nvSpPr>
        <p:spPr>
          <a:xfrm>
            <a:off x="14265394" y="5097034"/>
            <a:ext cx="12777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Helvetica" panose="020B0604020202020204"/>
                <a:cs typeface="Helvetica" panose="020B0604020202020204"/>
              </a:rPr>
              <a:t>H2 Pipeline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96F94D3-4B58-C4AC-A93B-95D0F5D38133}"/>
              </a:ext>
            </a:extLst>
          </p:cNvPr>
          <p:cNvSpPr txBox="1"/>
          <p:nvPr/>
        </p:nvSpPr>
        <p:spPr>
          <a:xfrm>
            <a:off x="14260198" y="5424349"/>
            <a:ext cx="12777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Helvetica" panose="020B0604020202020204"/>
                <a:cs typeface="Helvetica" panose="020B0604020202020204"/>
              </a:rPr>
              <a:t>Power 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AD9695-7D97-67C9-593B-A28B9870ADA7}"/>
              </a:ext>
            </a:extLst>
          </p:cNvPr>
          <p:cNvSpPr txBox="1"/>
          <p:nvPr/>
        </p:nvSpPr>
        <p:spPr>
          <a:xfrm>
            <a:off x="14162316" y="5742999"/>
            <a:ext cx="14708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350" dirty="0">
                <a:latin typeface="Helvetica" panose="020B0604020202020204"/>
                <a:cs typeface="Helvetica" panose="020B0604020202020204"/>
              </a:rPr>
              <a:t>Road Transport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E596789-2535-7E28-BAEA-A01D5BB0FCED}"/>
              </a:ext>
            </a:extLst>
          </p:cNvPr>
          <p:cNvSpPr/>
          <p:nvPr/>
        </p:nvSpPr>
        <p:spPr>
          <a:xfrm>
            <a:off x="12810252" y="4824635"/>
            <a:ext cx="1410838" cy="329357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24D1447-85F4-1842-35C7-374B1A059B2A}"/>
              </a:ext>
            </a:extLst>
          </p:cNvPr>
          <p:cNvSpPr/>
          <p:nvPr/>
        </p:nvSpPr>
        <p:spPr>
          <a:xfrm>
            <a:off x="12796904" y="5243073"/>
            <a:ext cx="1386221" cy="329357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6B98ABB-F22F-A1DB-1C68-4585F7AA4C65}"/>
              </a:ext>
            </a:extLst>
          </p:cNvPr>
          <p:cNvSpPr/>
          <p:nvPr/>
        </p:nvSpPr>
        <p:spPr>
          <a:xfrm>
            <a:off x="12799111" y="5682933"/>
            <a:ext cx="1386221" cy="329357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5597F2C-FEF2-7DE5-6A99-214D596B00D1}"/>
              </a:ext>
            </a:extLst>
          </p:cNvPr>
          <p:cNvSpPr txBox="1"/>
          <p:nvPr/>
        </p:nvSpPr>
        <p:spPr>
          <a:xfrm>
            <a:off x="12627971" y="4830175"/>
            <a:ext cx="17727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Helvetica" panose="020B0604020202020204"/>
                <a:cs typeface="Helvetica" panose="020B0604020202020204"/>
              </a:rPr>
              <a:t>Electrical Storage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49F693E-E602-B61F-AC64-51E33F8D172D}"/>
              </a:ext>
            </a:extLst>
          </p:cNvPr>
          <p:cNvSpPr txBox="1"/>
          <p:nvPr/>
        </p:nvSpPr>
        <p:spPr>
          <a:xfrm>
            <a:off x="12790310" y="5260867"/>
            <a:ext cx="14082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Helvetica" panose="020B0604020202020204"/>
                <a:cs typeface="Helvetica" panose="020B0604020202020204"/>
              </a:rPr>
              <a:t>H2 Storage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30CD4A-E911-610A-EB71-0D8124879601}"/>
              </a:ext>
            </a:extLst>
          </p:cNvPr>
          <p:cNvSpPr txBox="1"/>
          <p:nvPr/>
        </p:nvSpPr>
        <p:spPr>
          <a:xfrm>
            <a:off x="12783686" y="5681622"/>
            <a:ext cx="14082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Helvetica" panose="020B0604020202020204"/>
                <a:cs typeface="Helvetica" panose="020B0604020202020204"/>
              </a:rPr>
              <a:t>CO2 Reservoir </a:t>
            </a:r>
          </a:p>
        </p:txBody>
      </p:sp>
    </p:spTree>
    <p:extLst>
      <p:ext uri="{BB962C8B-B14F-4D97-AF65-F5344CB8AC3E}">
        <p14:creationId xmlns:p14="http://schemas.microsoft.com/office/powerpoint/2010/main" val="2193293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809</TotalTime>
  <Words>373</Words>
  <Application>Microsoft Office PowerPoint</Application>
  <PresentationFormat>Custom</PresentationFormat>
  <Paragraphs>100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Hemmati, Mohammad</dc:creator>
  <cp:lastModifiedBy>Hemmati, Mohammad</cp:lastModifiedBy>
  <cp:revision>5</cp:revision>
  <dcterms:created xsi:type="dcterms:W3CDTF">2025-09-14T21:17:14Z</dcterms:created>
  <dcterms:modified xsi:type="dcterms:W3CDTF">2025-09-15T22:52:10Z</dcterms:modified>
</cp:coreProperties>
</file>