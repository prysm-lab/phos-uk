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6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D0F46-2743-4FD8-BD74-6D34C145E1B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639B0-80B1-4F0B-AD14-10796464B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371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90E79-D9B1-4E89-A7A7-1126968DC50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82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EA88-E950-000B-2FCA-F28C1CCD3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7846E-8D79-ADFB-65BA-49391C9E9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B162-BF8D-7AAA-D533-AA9DBBD0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676ED-0797-DB93-1710-F8E43D46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42120-168A-430F-5A7B-8545247D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43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0686-F7BE-FE8E-4D4F-9D548D12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B24D7-BE41-3F53-41BB-9B66EA9F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AB2F3-13F1-AC44-67F2-FD3ADAE3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B73F-40BC-A124-8192-3B4132C2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6D26A-87F3-416B-0C6F-6FAAF988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7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6406-B5C3-BC5F-C830-1C30D30B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BE32A-DC9D-775A-CEEE-C66C29B16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120C8-6153-007B-3EAE-DE12E7CB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0A19E-4D3D-0D68-8656-0990F382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508C-329C-A9E5-55B2-BDC2BCBF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08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9EE5-046F-E70D-9041-E8C31BC1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5D66E-AD32-358B-544C-D48208822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538DF-186F-5F42-FC8F-D5F5EB38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B9471-FFBB-24E8-7630-31163BA2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84F23-2833-CE34-CEBA-60D288F3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CDA40-ECA1-3DB1-6597-FED8D649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01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63E2-5391-88CF-B131-F66ED4375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4A8CA-E868-5EF3-88B7-189F6F945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E3CF9-C099-B5AE-140C-FEFA068CC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BCDFD-CBD8-E9D6-6914-2DD0F30C2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298C0-6155-1203-1341-930BB0091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F26B4-16D9-F305-DAC9-E649CAF0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5ECEED-B73B-8473-118B-6856A97E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E490FB-2730-836D-BA74-40C3CCFE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92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0A23-8EE2-6B37-3E9D-EF722070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386C-26B0-E933-C740-ACD52DC9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86D0F-1947-62C1-6163-54D8BCDF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F84BC-3472-26DC-937D-6FF43C65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36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B828F-BB9E-02C2-0471-A6B3A135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ACE15-EC0A-72A4-5749-01F07968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9B6B7-05DE-F71E-B687-D79AFC3A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06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9ED5-A23A-E69B-401A-AFBD477B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9B63E-5FB9-3412-3843-0157E4B55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20FB6-973A-6C61-15F7-74660E23E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450E6-57E6-DD39-F483-0CC3FF21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FE13F-1EEA-0FA5-217D-A30B48E2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07901-A7F4-73AD-F4E6-380300E7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55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903CF-75CD-62EA-7158-E710773A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2E6CAB-3145-8D03-D0BD-926EE5378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8BB32-E328-FD1E-424B-6DDBB31F5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AC28E-6E3C-CAD7-0BE8-5F253FB6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52D17-263C-0A37-1CC1-1533FC01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943F9-DB74-62CD-2EF0-E95E6EC5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94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4A98-73C4-C521-35E8-8E17FC65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C22D-FE9E-5F86-8A30-CE1266232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424D0-CD25-3B79-04C1-DE44CC80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38AC-46A0-9615-F0EB-181583B5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85AD1-B417-71CC-11C0-DE27399C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26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8C5FD-F891-DE9C-B6BD-5C2EDB478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44BAD-CA32-B39F-C233-E38937397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36D9-FF1F-0792-DF5B-CD43F6CF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7A3BD-4FA2-E090-41AD-4E76D6FF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7B72F-C371-8969-2F34-FCA1F7D8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54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FA7C7-A797-F9F0-1ED8-5992DED6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F10B8-6A2F-B7C4-C452-F48E151A8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D945-ACFD-8D56-7E72-CD9A540B5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242E7-DC45-4169-B02D-C02B253E3E4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E5A78-38D0-A9C3-AD10-D8120F843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13D14-F1BA-31FC-6680-9AC2B5EF1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B46BA-BCD3-4D13-8797-7FEB4E4437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150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gif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DCEC81-1493-E5D0-A605-793F777D4A2B}"/>
              </a:ext>
            </a:extLst>
          </p:cNvPr>
          <p:cNvGrpSpPr/>
          <p:nvPr/>
        </p:nvGrpSpPr>
        <p:grpSpPr>
          <a:xfrm>
            <a:off x="-146525" y="-133793"/>
            <a:ext cx="12249799" cy="6991793"/>
            <a:chOff x="-146525" y="-133793"/>
            <a:chExt cx="12249799" cy="6991793"/>
          </a:xfrm>
        </p:grpSpPr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E3E7C774-B484-FBCF-709E-ADB62E94AF42}"/>
                </a:ext>
              </a:extLst>
            </p:cNvPr>
            <p:cNvGrpSpPr/>
            <p:nvPr/>
          </p:nvGrpSpPr>
          <p:grpSpPr>
            <a:xfrm>
              <a:off x="-146525" y="1229557"/>
              <a:ext cx="12249799" cy="5628443"/>
              <a:chOff x="-265223" y="671849"/>
              <a:chExt cx="12594921" cy="6186151"/>
            </a:xfrm>
          </p:grpSpPr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A2299A2A-BEEF-D857-7046-2F5243DEDDBC}"/>
                  </a:ext>
                </a:extLst>
              </p:cNvPr>
              <p:cNvSpPr txBox="1"/>
              <p:nvPr/>
            </p:nvSpPr>
            <p:spPr>
              <a:xfrm>
                <a:off x="5493473" y="671849"/>
                <a:ext cx="1771648" cy="338554"/>
              </a:xfrm>
              <a:prstGeom prst="rect">
                <a:avLst/>
              </a:prstGeom>
              <a:solidFill>
                <a:schemeClr val="bg1"/>
              </a:solidFill>
              <a:ln w="508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latin typeface="palatino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sz="1600" b="0" dirty="0">
                    <a:solidFill>
                      <a:schemeClr val="tx1"/>
                    </a:solidFill>
                  </a:rPr>
                  <a:t>Import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EFD83B3-0FD7-058C-9105-BA5CFF9BC052}"/>
                  </a:ext>
                </a:extLst>
              </p:cNvPr>
              <p:cNvGrpSpPr/>
              <p:nvPr/>
            </p:nvGrpSpPr>
            <p:grpSpPr>
              <a:xfrm>
                <a:off x="760796" y="4813823"/>
                <a:ext cx="3554501" cy="1411980"/>
                <a:chOff x="1565585" y="4841128"/>
                <a:chExt cx="3554501" cy="1411980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DD6FA374-9D3A-5B9B-E88D-459B2E054E54}"/>
                    </a:ext>
                  </a:extLst>
                </p:cNvPr>
                <p:cNvGrpSpPr/>
                <p:nvPr/>
              </p:nvGrpSpPr>
              <p:grpSpPr>
                <a:xfrm>
                  <a:off x="1565585" y="4841128"/>
                  <a:ext cx="1771648" cy="1411980"/>
                  <a:chOff x="1817620" y="4731027"/>
                  <a:chExt cx="1771648" cy="1411980"/>
                </a:xfrm>
              </p:grpSpPr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07E67210-474E-E675-EFDD-920D9BA1D2BF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92D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1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EC002192-6B66-683C-9C9D-D6BE40C11B4E}"/>
                      </a:ext>
                    </a:extLst>
                  </p:cNvPr>
                  <p:cNvSpPr txBox="1"/>
                  <p:nvPr/>
                </p:nvSpPr>
                <p:spPr>
                  <a:xfrm>
                    <a:off x="1817620" y="5804453"/>
                    <a:ext cx="17716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GB" sz="1600" dirty="0">
                        <a:solidFill>
                          <a:schemeClr val="tx1"/>
                        </a:solidFill>
                        <a:latin typeface="palatino"/>
                      </a:rPr>
                      <a:t>Wind Onshore</a:t>
                    </a: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EB6EEC52-2F59-5431-ECAD-99DF65AF47D4}"/>
                    </a:ext>
                  </a:extLst>
                </p:cNvPr>
                <p:cNvGrpSpPr/>
                <p:nvPr/>
              </p:nvGrpSpPr>
              <p:grpSpPr>
                <a:xfrm>
                  <a:off x="3348438" y="4841128"/>
                  <a:ext cx="1771648" cy="1411980"/>
                  <a:chOff x="1817620" y="4731027"/>
                  <a:chExt cx="1771648" cy="1411980"/>
                </a:xfrm>
              </p:grpSpPr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639450E1-0724-3DC4-36EE-B3A9626FAE03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7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D0E1784-7067-2010-4F96-77D0BA670631}"/>
                      </a:ext>
                    </a:extLst>
                  </p:cNvPr>
                  <p:cNvSpPr txBox="1"/>
                  <p:nvPr/>
                </p:nvSpPr>
                <p:spPr>
                  <a:xfrm>
                    <a:off x="1817620" y="5804453"/>
                    <a:ext cx="17716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GB" sz="1600" dirty="0">
                        <a:solidFill>
                          <a:schemeClr val="tx1"/>
                        </a:solidFill>
                        <a:latin typeface="palatino"/>
                      </a:rPr>
                      <a:t>Wind Offshore</a:t>
                    </a:r>
                  </a:p>
                </p:txBody>
              </p:sp>
            </p:grp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6814800-D0DD-DFC7-5537-ADC540D9BA60}"/>
                  </a:ext>
                </a:extLst>
              </p:cNvPr>
              <p:cNvGrpSpPr/>
              <p:nvPr/>
            </p:nvGrpSpPr>
            <p:grpSpPr>
              <a:xfrm>
                <a:off x="8205938" y="4813823"/>
                <a:ext cx="3554501" cy="1455222"/>
                <a:chOff x="7624197" y="4891595"/>
                <a:chExt cx="3554501" cy="1455222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812DD1EC-26EA-4B91-901C-06CFC130C023}"/>
                    </a:ext>
                  </a:extLst>
                </p:cNvPr>
                <p:cNvGrpSpPr/>
                <p:nvPr/>
              </p:nvGrpSpPr>
              <p:grpSpPr>
                <a:xfrm>
                  <a:off x="7624197" y="4891595"/>
                  <a:ext cx="1771648" cy="1411980"/>
                  <a:chOff x="1817620" y="4731027"/>
                  <a:chExt cx="1771648" cy="1411980"/>
                </a:xfrm>
              </p:grpSpPr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EF2659A2-9B43-15EA-8BC0-BFE1DD3E545C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0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7093045E-062F-2AEC-B6E6-339D3F9B18E6}"/>
                      </a:ext>
                    </a:extLst>
                  </p:cNvPr>
                  <p:cNvSpPr txBox="1"/>
                  <p:nvPr/>
                </p:nvSpPr>
                <p:spPr>
                  <a:xfrm>
                    <a:off x="1817620" y="5804453"/>
                    <a:ext cx="17716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GB" sz="1600" dirty="0">
                        <a:solidFill>
                          <a:schemeClr val="tx1"/>
                        </a:solidFill>
                        <a:latin typeface="palatino"/>
                      </a:rPr>
                      <a:t>Solar</a:t>
                    </a:r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9D73C648-7FE9-9478-6450-D58BC614D8FC}"/>
                    </a:ext>
                  </a:extLst>
                </p:cNvPr>
                <p:cNvGrpSpPr/>
                <p:nvPr/>
              </p:nvGrpSpPr>
              <p:grpSpPr>
                <a:xfrm>
                  <a:off x="9407050" y="4934837"/>
                  <a:ext cx="1771648" cy="1411980"/>
                  <a:chOff x="1817620" y="4824736"/>
                  <a:chExt cx="1771648" cy="1411980"/>
                </a:xfrm>
              </p:grpSpPr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B60F453-4F73-8E38-A063-857F03EA517D}"/>
                      </a:ext>
                    </a:extLst>
                  </p:cNvPr>
                  <p:cNvSpPr/>
                  <p:nvPr/>
                </p:nvSpPr>
                <p:spPr>
                  <a:xfrm>
                    <a:off x="2146854" y="4824736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1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1B6F78D2-C7A7-DE6A-DA7D-4EB240280F50}"/>
                      </a:ext>
                    </a:extLst>
                  </p:cNvPr>
                  <p:cNvSpPr txBox="1"/>
                  <p:nvPr/>
                </p:nvSpPr>
                <p:spPr>
                  <a:xfrm>
                    <a:off x="1817620" y="5898162"/>
                    <a:ext cx="17716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GB" sz="1600" dirty="0">
                        <a:solidFill>
                          <a:schemeClr val="tx1"/>
                        </a:solidFill>
                        <a:latin typeface="palatino"/>
                      </a:rPr>
                      <a:t>Hydro</a:t>
                    </a:r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70C0F0B-0D43-EB4B-CF0A-9373B657DF43}"/>
                  </a:ext>
                </a:extLst>
              </p:cNvPr>
              <p:cNvGrpSpPr/>
              <p:nvPr/>
            </p:nvGrpSpPr>
            <p:grpSpPr>
              <a:xfrm>
                <a:off x="5380396" y="5446020"/>
                <a:ext cx="1771648" cy="1411980"/>
                <a:chOff x="1817620" y="4731027"/>
                <a:chExt cx="1771648" cy="1411980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22F2C4A-2108-1313-D65B-0DA1918AB03E}"/>
                    </a:ext>
                  </a:extLst>
                </p:cNvPr>
                <p:cNvSpPr/>
                <p:nvPr/>
              </p:nvSpPr>
              <p:spPr>
                <a:xfrm>
                  <a:off x="2146854" y="4731027"/>
                  <a:ext cx="1113181" cy="1073426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rgbClr val="FF6699">
                      <a:alpha val="57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GB" b="1" dirty="0">
                      <a:solidFill>
                        <a:schemeClr val="tx1"/>
                      </a:solidFill>
                      <a:latin typeface="palatino"/>
                    </a:rPr>
                    <a:t>25 </a:t>
                  </a:r>
                  <a:r>
                    <a:rPr lang="en-GB" b="1">
                      <a:solidFill>
                        <a:schemeClr val="tx1"/>
                      </a:solidFill>
                      <a:latin typeface="palatino"/>
                    </a:rPr>
                    <a:t>GWh</a:t>
                  </a:r>
                  <a:endParaRPr lang="en-GB" b="1" dirty="0">
                    <a:solidFill>
                      <a:schemeClr val="tx1"/>
                    </a:solidFill>
                    <a:latin typeface="palatino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F940103-FC16-D8C5-86E3-BABA7B38F162}"/>
                    </a:ext>
                  </a:extLst>
                </p:cNvPr>
                <p:cNvSpPr txBox="1"/>
                <p:nvPr/>
              </p:nvSpPr>
              <p:spPr>
                <a:xfrm>
                  <a:off x="1817620" y="5804453"/>
                  <a:ext cx="1771648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600" dirty="0">
                      <a:solidFill>
                        <a:schemeClr val="tx1"/>
                      </a:solidFill>
                      <a:latin typeface="palatino"/>
                    </a:rPr>
                    <a:t>Battery</a:t>
                  </a: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C9AF1D8F-3858-9DE4-522B-1D1FA032CB4A}"/>
                  </a:ext>
                </a:extLst>
              </p:cNvPr>
              <p:cNvGrpSpPr/>
              <p:nvPr/>
            </p:nvGrpSpPr>
            <p:grpSpPr>
              <a:xfrm>
                <a:off x="-265223" y="825343"/>
                <a:ext cx="4924951" cy="1461904"/>
                <a:chOff x="191625" y="662748"/>
                <a:chExt cx="4924951" cy="1461904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490E973-D8FE-A5C3-BBDD-7B82399C53B8}"/>
                    </a:ext>
                  </a:extLst>
                </p:cNvPr>
                <p:cNvGrpSpPr/>
                <p:nvPr/>
              </p:nvGrpSpPr>
              <p:grpSpPr>
                <a:xfrm>
                  <a:off x="1796845" y="663238"/>
                  <a:ext cx="1771648" cy="1440011"/>
                  <a:chOff x="1845378" y="4364442"/>
                  <a:chExt cx="1771648" cy="1440011"/>
                </a:xfrm>
              </p:grpSpPr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2B7EC99D-C910-BDB6-75D8-29F240F03083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6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F764152E-675C-E227-9A57-2E24A7054C65}"/>
                      </a:ext>
                    </a:extLst>
                  </p:cNvPr>
                  <p:cNvSpPr txBox="1"/>
                  <p:nvPr/>
                </p:nvSpPr>
                <p:spPr>
                  <a:xfrm>
                    <a:off x="1845378" y="4364442"/>
                    <a:ext cx="1771648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 w="508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algn="ctr">
                      <a:defRPr b="1">
                        <a:latin typeface="palatino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r>
                      <a:rPr lang="en-GB" sz="1600" b="0" dirty="0">
                        <a:solidFill>
                          <a:schemeClr val="tx1"/>
                        </a:solidFill>
                      </a:rPr>
                      <a:t>H2CCGT</a:t>
                    </a: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0099D379-9431-BA88-F26E-03DF154EC93F}"/>
                    </a:ext>
                  </a:extLst>
                </p:cNvPr>
                <p:cNvGrpSpPr/>
                <p:nvPr/>
              </p:nvGrpSpPr>
              <p:grpSpPr>
                <a:xfrm>
                  <a:off x="191625" y="662748"/>
                  <a:ext cx="1771648" cy="1440501"/>
                  <a:chOff x="1838530" y="4363952"/>
                  <a:chExt cx="1771648" cy="1440501"/>
                </a:xfrm>
              </p:grpSpPr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2DCDE36C-D331-93C8-BCC7-B41C7C8F347A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FF00FF">
                        <a:alpha val="62000"/>
                      </a:srgb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21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D22514D-B853-3F3D-D7B1-B443D5F02E08}"/>
                      </a:ext>
                    </a:extLst>
                  </p:cNvPr>
                  <p:cNvSpPr txBox="1"/>
                  <p:nvPr/>
                </p:nvSpPr>
                <p:spPr>
                  <a:xfrm>
                    <a:off x="1838530" y="4363952"/>
                    <a:ext cx="1771648" cy="338554"/>
                  </a:xfrm>
                  <a:prstGeom prst="rect">
                    <a:avLst/>
                  </a:prstGeom>
                  <a:noFill/>
                  <a:ln w="508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algn="ctr">
                      <a:defRPr b="1">
                        <a:latin typeface="palatino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r>
                      <a:rPr lang="en-GB" sz="1600" b="0" dirty="0">
                        <a:solidFill>
                          <a:schemeClr val="tx1"/>
                        </a:solidFill>
                      </a:rPr>
                      <a:t>Nuclear</a:t>
                    </a:r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E01ED571-C498-B22B-2D4F-66B1F984C6FC}"/>
                    </a:ext>
                  </a:extLst>
                </p:cNvPr>
                <p:cNvGrpSpPr/>
                <p:nvPr/>
              </p:nvGrpSpPr>
              <p:grpSpPr>
                <a:xfrm>
                  <a:off x="3344928" y="670070"/>
                  <a:ext cx="1771648" cy="1454582"/>
                  <a:chOff x="1795091" y="4349871"/>
                  <a:chExt cx="1771648" cy="1454582"/>
                </a:xfrm>
              </p:grpSpPr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755CA4BE-F842-79A1-054C-4A608F2EAB3E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rgbClr val="291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2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4AF6820E-0EF0-5462-27EC-BBD6737AE223}"/>
                      </a:ext>
                    </a:extLst>
                  </p:cNvPr>
                  <p:cNvSpPr txBox="1"/>
                  <p:nvPr/>
                </p:nvSpPr>
                <p:spPr>
                  <a:xfrm>
                    <a:off x="1795091" y="4349871"/>
                    <a:ext cx="1771648" cy="338554"/>
                  </a:xfrm>
                  <a:prstGeom prst="rect">
                    <a:avLst/>
                  </a:prstGeom>
                  <a:solidFill>
                    <a:schemeClr val="bg1"/>
                  </a:solidFill>
                  <a:ln w="508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algn="ctr">
                      <a:defRPr b="1">
                        <a:latin typeface="palatino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r>
                      <a:rPr lang="en-GB" sz="1600" b="0" dirty="0">
                        <a:solidFill>
                          <a:schemeClr val="tx1"/>
                        </a:solidFill>
                      </a:rPr>
                      <a:t>Biomass</a:t>
                    </a:r>
                  </a:p>
                </p:txBody>
              </p:sp>
            </p:grpSp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97066A9-1C93-DE44-41A7-D1D7C2018CEE}"/>
                  </a:ext>
                </a:extLst>
              </p:cNvPr>
              <p:cNvGrpSpPr/>
              <p:nvPr/>
            </p:nvGrpSpPr>
            <p:grpSpPr>
              <a:xfrm>
                <a:off x="7382130" y="882171"/>
                <a:ext cx="4947568" cy="1416507"/>
                <a:chOff x="7142105" y="662748"/>
                <a:chExt cx="4947568" cy="1416507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9295F97A-E12F-62B2-D60F-7978DF128F88}"/>
                    </a:ext>
                  </a:extLst>
                </p:cNvPr>
                <p:cNvGrpSpPr/>
                <p:nvPr/>
              </p:nvGrpSpPr>
              <p:grpSpPr>
                <a:xfrm>
                  <a:off x="7142105" y="688669"/>
                  <a:ext cx="1771648" cy="1390586"/>
                  <a:chOff x="1807681" y="4413867"/>
                  <a:chExt cx="1771648" cy="1390586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95DAED6E-A983-F087-EE64-D40C8E3D28F9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chemeClr val="bg2">
                        <a:lumMod val="10000"/>
                        <a:alpha val="98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28.4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CB635FC-2E15-1C90-3875-FBA2FA940179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681" y="4413867"/>
                    <a:ext cx="17716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GB" sz="1600" dirty="0">
                        <a:solidFill>
                          <a:schemeClr val="tx1"/>
                        </a:solidFill>
                        <a:latin typeface="palatino"/>
                      </a:rPr>
                      <a:t>CCGT</a:t>
                    </a:r>
                  </a:p>
                </p:txBody>
              </p: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F1003460-0A91-4623-BC14-14B013FE8CCC}"/>
                    </a:ext>
                  </a:extLst>
                </p:cNvPr>
                <p:cNvGrpSpPr/>
                <p:nvPr/>
              </p:nvGrpSpPr>
              <p:grpSpPr>
                <a:xfrm>
                  <a:off x="8750415" y="662748"/>
                  <a:ext cx="1771648" cy="1416507"/>
                  <a:chOff x="1817620" y="4387946"/>
                  <a:chExt cx="1771648" cy="1416507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FA567DD-A352-67B5-F83C-C64AE464FCE8}"/>
                      </a:ext>
                    </a:extLst>
                  </p:cNvPr>
                  <p:cNvSpPr/>
                  <p:nvPr/>
                </p:nvSpPr>
                <p:spPr>
                  <a:xfrm>
                    <a:off x="2146854" y="4731027"/>
                    <a:ext cx="1113181" cy="1073426"/>
                  </a:xfrm>
                  <a:prstGeom prst="ellipse">
                    <a:avLst/>
                  </a:prstGeom>
                  <a:solidFill>
                    <a:schemeClr val="bg1"/>
                  </a:solidFill>
                  <a:ln w="50800">
                    <a:solidFill>
                      <a:schemeClr val="accent2">
                        <a:lumMod val="75000"/>
                        <a:alpha val="51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GB" b="1" dirty="0">
                        <a:solidFill>
                          <a:schemeClr val="tx1"/>
                        </a:solidFill>
                        <a:latin typeface="palatino"/>
                      </a:rPr>
                      <a:t>16 </a:t>
                    </a:r>
                    <a:r>
                      <a:rPr lang="en-GB" b="1">
                        <a:solidFill>
                          <a:schemeClr val="tx1"/>
                        </a:solidFill>
                        <a:latin typeface="palatino"/>
                      </a:rPr>
                      <a:t>GWh</a:t>
                    </a:r>
                    <a:endParaRPr lang="en-GB" b="1" dirty="0">
                      <a:solidFill>
                        <a:schemeClr val="tx1"/>
                      </a:solidFill>
                      <a:latin typeface="palatino"/>
                    </a:endParaRP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21829BC-57A7-F236-3756-6A8F8ED21507}"/>
                      </a:ext>
                    </a:extLst>
                  </p:cNvPr>
                  <p:cNvSpPr txBox="1"/>
                  <p:nvPr/>
                </p:nvSpPr>
                <p:spPr>
                  <a:xfrm>
                    <a:off x="1817620" y="4387946"/>
                    <a:ext cx="17716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GB" sz="1600" dirty="0">
                        <a:solidFill>
                          <a:schemeClr val="tx1"/>
                        </a:solidFill>
                        <a:latin typeface="palatino"/>
                      </a:rPr>
                      <a:t>CCGTCCS</a:t>
                    </a:r>
                  </a:p>
                </p:txBody>
              </p:sp>
            </p:grp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53CDA8E-8480-702C-27E1-E34A33375F07}"/>
                    </a:ext>
                  </a:extLst>
                </p:cNvPr>
                <p:cNvSpPr/>
                <p:nvPr/>
              </p:nvSpPr>
              <p:spPr>
                <a:xfrm>
                  <a:off x="10678019" y="1001302"/>
                  <a:ext cx="1113181" cy="1073426"/>
                </a:xfrm>
                <a:prstGeom prst="ellipse">
                  <a:avLst/>
                </a:prstGeom>
                <a:solidFill>
                  <a:schemeClr val="bg1"/>
                </a:solidFill>
                <a:ln w="50800">
                  <a:solidFill>
                    <a:schemeClr val="tx1">
                      <a:lumMod val="50000"/>
                      <a:lumOff val="50000"/>
                      <a:alpha val="51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GB" b="1" dirty="0">
                      <a:solidFill>
                        <a:schemeClr val="tx1"/>
                      </a:solidFill>
                      <a:latin typeface="palatino"/>
                    </a:rPr>
                    <a:t>0 </a:t>
                  </a:r>
                  <a:r>
                    <a:rPr lang="en-GB" b="1">
                      <a:solidFill>
                        <a:schemeClr val="tx1"/>
                      </a:solidFill>
                      <a:latin typeface="palatino"/>
                    </a:rPr>
                    <a:t>GWh</a:t>
                  </a:r>
                  <a:endParaRPr lang="en-GB" b="1" dirty="0">
                    <a:solidFill>
                      <a:schemeClr val="tx1"/>
                    </a:solidFill>
                    <a:latin typeface="palatino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525D995-19EA-11C3-AE57-D976F267BA8A}"/>
                    </a:ext>
                  </a:extLst>
                </p:cNvPr>
                <p:cNvSpPr txBox="1"/>
                <p:nvPr/>
              </p:nvSpPr>
              <p:spPr>
                <a:xfrm>
                  <a:off x="10318025" y="662748"/>
                  <a:ext cx="1771648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600" dirty="0">
                      <a:solidFill>
                        <a:schemeClr val="tx1"/>
                      </a:solidFill>
                      <a:latin typeface="palatino"/>
                    </a:rPr>
                    <a:t>OCGT</a:t>
                  </a:r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F1013B61-F652-9B84-6D60-30E3A69697A2}"/>
                  </a:ext>
                </a:extLst>
              </p:cNvPr>
              <p:cNvGrpSpPr/>
              <p:nvPr/>
            </p:nvGrpSpPr>
            <p:grpSpPr>
              <a:xfrm>
                <a:off x="4901003" y="3036803"/>
                <a:ext cx="2683565" cy="981868"/>
                <a:chOff x="4939748" y="3125745"/>
                <a:chExt cx="2683565" cy="981868"/>
              </a:xfrm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B6821525-BB79-813D-BFB2-97CA771B267C}"/>
                    </a:ext>
                  </a:extLst>
                </p:cNvPr>
                <p:cNvSpPr/>
                <p:nvPr/>
              </p:nvSpPr>
              <p:spPr>
                <a:xfrm>
                  <a:off x="4939748" y="3130826"/>
                  <a:ext cx="2683565" cy="974035"/>
                </a:xfrm>
                <a:prstGeom prst="roundRect">
                  <a:avLst/>
                </a:prstGeom>
                <a:noFill/>
                <a:ln w="666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  <a:latin typeface="palatino"/>
                    </a:rPr>
                    <a:t>Total Demand</a:t>
                  </a:r>
                </a:p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  <a:latin typeface="palatino"/>
                    </a:rPr>
                    <a:t>113 GWh</a:t>
                  </a:r>
                </a:p>
              </p:txBody>
            </p: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9D332E60-AF95-5AEC-09CB-E1FC859A6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80348" y="4103089"/>
                  <a:ext cx="555007" cy="1772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F8D5CF81-E8C9-CC67-4C25-144683764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3538" y="4104861"/>
                  <a:ext cx="186810" cy="0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084E98EC-2A75-B8EA-E860-1633140069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35355" y="4104812"/>
                  <a:ext cx="921912" cy="0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FF66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DA45A34E-AF0E-F9CD-3FF1-6CE53EEBFD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57757" y="4103205"/>
                  <a:ext cx="165777" cy="0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310CCAF8-10E1-DF2C-B522-A2B3D6A9A3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27888" y="3125745"/>
                  <a:ext cx="815772" cy="3313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00FF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5FEEE054-16A5-5F55-C90F-9EF94E193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39748" y="3450068"/>
                  <a:ext cx="0" cy="536765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FF00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DDD426AF-35F3-5F59-EC7D-51B359B51EBC}"/>
                    </a:ext>
                  </a:extLst>
                </p:cNvPr>
                <p:cNvSpPr/>
                <p:nvPr/>
              </p:nvSpPr>
              <p:spPr>
                <a:xfrm rot="16200000">
                  <a:off x="4944535" y="3969135"/>
                  <a:ext cx="136281" cy="140676"/>
                </a:xfrm>
                <a:custGeom>
                  <a:avLst/>
                  <a:gdLst>
                    <a:gd name="connsiteX0" fmla="*/ 136281 w 136281"/>
                    <a:gd name="connsiteY0" fmla="*/ 0 h 140676"/>
                    <a:gd name="connsiteX1" fmla="*/ 96715 w 136281"/>
                    <a:gd name="connsiteY1" fmla="*/ 13188 h 140676"/>
                    <a:gd name="connsiteX2" fmla="*/ 70338 w 136281"/>
                    <a:gd name="connsiteY2" fmla="*/ 21980 h 140676"/>
                    <a:gd name="connsiteX3" fmla="*/ 61546 w 136281"/>
                    <a:gd name="connsiteY3" fmla="*/ 30773 h 140676"/>
                    <a:gd name="connsiteX4" fmla="*/ 43961 w 136281"/>
                    <a:gd name="connsiteY4" fmla="*/ 43961 h 140676"/>
                    <a:gd name="connsiteX5" fmla="*/ 35169 w 136281"/>
                    <a:gd name="connsiteY5" fmla="*/ 61546 h 140676"/>
                    <a:gd name="connsiteX6" fmla="*/ 13188 w 136281"/>
                    <a:gd name="connsiteY6" fmla="*/ 87923 h 140676"/>
                    <a:gd name="connsiteX7" fmla="*/ 4396 w 136281"/>
                    <a:gd name="connsiteY7" fmla="*/ 131884 h 140676"/>
                    <a:gd name="connsiteX8" fmla="*/ 0 w 136281"/>
                    <a:gd name="connsiteY8" fmla="*/ 140676 h 140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81" h="140676">
                      <a:moveTo>
                        <a:pt x="136281" y="0"/>
                      </a:moveTo>
                      <a:cubicBezTo>
                        <a:pt x="92206" y="17629"/>
                        <a:pt x="134577" y="1830"/>
                        <a:pt x="96715" y="13188"/>
                      </a:cubicBezTo>
                      <a:cubicBezTo>
                        <a:pt x="87838" y="15851"/>
                        <a:pt x="70338" y="21980"/>
                        <a:pt x="70338" y="21980"/>
                      </a:cubicBezTo>
                      <a:cubicBezTo>
                        <a:pt x="67407" y="24911"/>
                        <a:pt x="64730" y="28120"/>
                        <a:pt x="61546" y="30773"/>
                      </a:cubicBezTo>
                      <a:cubicBezTo>
                        <a:pt x="55917" y="35464"/>
                        <a:pt x="48729" y="38398"/>
                        <a:pt x="43961" y="43961"/>
                      </a:cubicBezTo>
                      <a:cubicBezTo>
                        <a:pt x="39696" y="48937"/>
                        <a:pt x="38420" y="55856"/>
                        <a:pt x="35169" y="61546"/>
                      </a:cubicBezTo>
                      <a:cubicBezTo>
                        <a:pt x="27009" y="75826"/>
                        <a:pt x="25311" y="75800"/>
                        <a:pt x="13188" y="87923"/>
                      </a:cubicBezTo>
                      <a:cubicBezTo>
                        <a:pt x="11024" y="100910"/>
                        <a:pt x="8768" y="118768"/>
                        <a:pt x="4396" y="131884"/>
                      </a:cubicBezTo>
                      <a:cubicBezTo>
                        <a:pt x="3360" y="134992"/>
                        <a:pt x="1465" y="137745"/>
                        <a:pt x="0" y="140676"/>
                      </a:cubicBezTo>
                    </a:path>
                  </a:pathLst>
                </a:custGeom>
                <a:solidFill>
                  <a:schemeClr val="bg1"/>
                </a:solidFill>
                <a:ln w="69850">
                  <a:solidFill>
                    <a:srgbClr val="FF00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060E1784-1CC4-FD9D-1DBB-6259BB285D9B}"/>
                    </a:ext>
                  </a:extLst>
                </p:cNvPr>
                <p:cNvCxnSpPr>
                  <a:cxnSpLocks/>
                  <a:endCxn id="120" idx="7"/>
                </p:cNvCxnSpPr>
                <p:nvPr/>
              </p:nvCxnSpPr>
              <p:spPr>
                <a:xfrm flipH="1" flipV="1">
                  <a:off x="5074222" y="4103218"/>
                  <a:ext cx="221748" cy="2419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FF00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9C112FCB-15E3-277D-27A3-F36CA26A9523}"/>
                    </a:ext>
                  </a:extLst>
                </p:cNvPr>
                <p:cNvSpPr/>
                <p:nvPr/>
              </p:nvSpPr>
              <p:spPr>
                <a:xfrm>
                  <a:off x="4942787" y="3130875"/>
                  <a:ext cx="136281" cy="140676"/>
                </a:xfrm>
                <a:custGeom>
                  <a:avLst/>
                  <a:gdLst>
                    <a:gd name="connsiteX0" fmla="*/ 136281 w 136281"/>
                    <a:gd name="connsiteY0" fmla="*/ 0 h 140676"/>
                    <a:gd name="connsiteX1" fmla="*/ 96715 w 136281"/>
                    <a:gd name="connsiteY1" fmla="*/ 13188 h 140676"/>
                    <a:gd name="connsiteX2" fmla="*/ 70338 w 136281"/>
                    <a:gd name="connsiteY2" fmla="*/ 21980 h 140676"/>
                    <a:gd name="connsiteX3" fmla="*/ 61546 w 136281"/>
                    <a:gd name="connsiteY3" fmla="*/ 30773 h 140676"/>
                    <a:gd name="connsiteX4" fmla="*/ 43961 w 136281"/>
                    <a:gd name="connsiteY4" fmla="*/ 43961 h 140676"/>
                    <a:gd name="connsiteX5" fmla="*/ 35169 w 136281"/>
                    <a:gd name="connsiteY5" fmla="*/ 61546 h 140676"/>
                    <a:gd name="connsiteX6" fmla="*/ 13188 w 136281"/>
                    <a:gd name="connsiteY6" fmla="*/ 87923 h 140676"/>
                    <a:gd name="connsiteX7" fmla="*/ 4396 w 136281"/>
                    <a:gd name="connsiteY7" fmla="*/ 131884 h 140676"/>
                    <a:gd name="connsiteX8" fmla="*/ 0 w 136281"/>
                    <a:gd name="connsiteY8" fmla="*/ 140676 h 140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81" h="140676">
                      <a:moveTo>
                        <a:pt x="136281" y="0"/>
                      </a:moveTo>
                      <a:cubicBezTo>
                        <a:pt x="92206" y="17629"/>
                        <a:pt x="134577" y="1830"/>
                        <a:pt x="96715" y="13188"/>
                      </a:cubicBezTo>
                      <a:cubicBezTo>
                        <a:pt x="87838" y="15851"/>
                        <a:pt x="70338" y="21980"/>
                        <a:pt x="70338" y="21980"/>
                      </a:cubicBezTo>
                      <a:cubicBezTo>
                        <a:pt x="67407" y="24911"/>
                        <a:pt x="64730" y="28120"/>
                        <a:pt x="61546" y="30773"/>
                      </a:cubicBezTo>
                      <a:cubicBezTo>
                        <a:pt x="55917" y="35464"/>
                        <a:pt x="48729" y="38398"/>
                        <a:pt x="43961" y="43961"/>
                      </a:cubicBezTo>
                      <a:cubicBezTo>
                        <a:pt x="39696" y="48937"/>
                        <a:pt x="38420" y="55856"/>
                        <a:pt x="35169" y="61546"/>
                      </a:cubicBezTo>
                      <a:cubicBezTo>
                        <a:pt x="27009" y="75826"/>
                        <a:pt x="25311" y="75800"/>
                        <a:pt x="13188" y="87923"/>
                      </a:cubicBezTo>
                      <a:cubicBezTo>
                        <a:pt x="11024" y="100910"/>
                        <a:pt x="8768" y="118768"/>
                        <a:pt x="4396" y="131884"/>
                      </a:cubicBezTo>
                      <a:cubicBezTo>
                        <a:pt x="3360" y="134992"/>
                        <a:pt x="1465" y="137745"/>
                        <a:pt x="0" y="140676"/>
                      </a:cubicBezTo>
                    </a:path>
                  </a:pathLst>
                </a:custGeom>
                <a:solidFill>
                  <a:schemeClr val="bg1"/>
                </a:solidFill>
                <a:ln w="73025">
                  <a:solidFill>
                    <a:srgbClr val="FF0000">
                      <a:alpha val="92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5D18E8CD-542E-F600-5DC2-D68C09BD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23533" y="4105331"/>
                  <a:ext cx="404720" cy="0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75D4CDE1-8FD4-1D69-5019-5025BAA445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5718" y="3130609"/>
                  <a:ext cx="347799" cy="0"/>
                </a:xfrm>
                <a:prstGeom prst="line">
                  <a:avLst/>
                </a:prstGeom>
                <a:solidFill>
                  <a:schemeClr val="bg1"/>
                </a:solidFill>
                <a:ln w="66675">
                  <a:solidFill>
                    <a:srgbClr val="291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57C3F3B8-5480-9881-5B4A-8DFF1458B100}"/>
                  </a:ext>
                </a:extLst>
              </p:cNvPr>
              <p:cNvCxnSpPr>
                <a:cxnSpLocks/>
                <a:stCxn id="27" idx="4"/>
              </p:cNvCxnSpPr>
              <p:nvPr/>
            </p:nvCxnSpPr>
            <p:spPr>
              <a:xfrm>
                <a:off x="8277894" y="2298678"/>
                <a:ext cx="0" cy="9177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4C656AD4-2125-73CC-C494-ED2442657E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74615" y="4556146"/>
                <a:ext cx="0" cy="300919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61573850-2363-824B-886D-7A59195E7083}"/>
                  </a:ext>
                </a:extLst>
              </p:cNvPr>
              <p:cNvGrpSpPr/>
              <p:nvPr/>
            </p:nvGrpSpPr>
            <p:grpSpPr>
              <a:xfrm>
                <a:off x="7482651" y="2322586"/>
                <a:ext cx="2394227" cy="1826768"/>
                <a:chOff x="7482037" y="2303205"/>
                <a:chExt cx="2394227" cy="1826768"/>
              </a:xfrm>
            </p:grpSpPr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2FB1FF1B-F1B6-681F-102E-C3E53CBD49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76264" y="2303205"/>
                  <a:ext cx="0" cy="1711058"/>
                </a:xfrm>
                <a:prstGeom prst="line">
                  <a:avLst/>
                </a:prstGeom>
                <a:ln w="25400">
                  <a:solidFill>
                    <a:schemeClr val="accent2">
                      <a:lumMod val="75000"/>
                      <a:alpha val="51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Arc 151">
                  <a:extLst>
                    <a:ext uri="{FF2B5EF4-FFF2-40B4-BE49-F238E27FC236}">
                      <a16:creationId xmlns:a16="http://schemas.microsoft.com/office/drawing/2014/main" id="{7A1E98AD-8EFD-4AFD-D0F2-444861ACB2C1}"/>
                    </a:ext>
                  </a:extLst>
                </p:cNvPr>
                <p:cNvSpPr/>
                <p:nvPr/>
              </p:nvSpPr>
              <p:spPr>
                <a:xfrm rot="5400000">
                  <a:off x="9673433" y="3926101"/>
                  <a:ext cx="246941" cy="157401"/>
                </a:xfrm>
                <a:prstGeom prst="arc">
                  <a:avLst/>
                </a:prstGeom>
                <a:ln w="25400">
                  <a:solidFill>
                    <a:schemeClr val="accent2">
                      <a:lumMod val="75000"/>
                      <a:alpha val="51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4EAFAA9A-C2E6-8818-E845-8C3F26FE63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1134" y="4128272"/>
                  <a:ext cx="2177941" cy="0"/>
                </a:xfrm>
                <a:prstGeom prst="line">
                  <a:avLst/>
                </a:prstGeom>
                <a:ln w="25400">
                  <a:solidFill>
                    <a:schemeClr val="accent2">
                      <a:lumMod val="75000"/>
                      <a:alpha val="51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6" name="Arc 155">
                  <a:extLst>
                    <a:ext uri="{FF2B5EF4-FFF2-40B4-BE49-F238E27FC236}">
                      <a16:creationId xmlns:a16="http://schemas.microsoft.com/office/drawing/2014/main" id="{F6C867DD-8054-B0DC-D87E-41C76C48DCA3}"/>
                    </a:ext>
                  </a:extLst>
                </p:cNvPr>
                <p:cNvSpPr/>
                <p:nvPr/>
              </p:nvSpPr>
              <p:spPr>
                <a:xfrm rot="11479630">
                  <a:off x="7482037" y="3975999"/>
                  <a:ext cx="314409" cy="153974"/>
                </a:xfrm>
                <a:prstGeom prst="arc">
                  <a:avLst/>
                </a:prstGeom>
                <a:ln w="25400">
                  <a:solidFill>
                    <a:schemeClr val="accent2">
                      <a:lumMod val="75000"/>
                      <a:alpha val="51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71" name="Arc 170">
                <a:extLst>
                  <a:ext uri="{FF2B5EF4-FFF2-40B4-BE49-F238E27FC236}">
                    <a16:creationId xmlns:a16="http://schemas.microsoft.com/office/drawing/2014/main" id="{9F1A7EA2-7CCC-3BE8-6E11-521DDAF9B0C6}"/>
                  </a:ext>
                </a:extLst>
              </p:cNvPr>
              <p:cNvSpPr/>
              <p:nvPr/>
            </p:nvSpPr>
            <p:spPr>
              <a:xfrm rot="212608">
                <a:off x="10628457" y="4470273"/>
                <a:ext cx="246941" cy="15740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9B18C77-A802-701D-D7CF-475C7F27D0EB}"/>
                  </a:ext>
                </a:extLst>
              </p:cNvPr>
              <p:cNvCxnSpPr>
                <a:cxnSpLocks/>
                <a:stCxn id="174" idx="0"/>
                <a:endCxn id="171" idx="0"/>
              </p:cNvCxnSpPr>
              <p:nvPr/>
            </p:nvCxnSpPr>
            <p:spPr>
              <a:xfrm>
                <a:off x="7130932" y="4435838"/>
                <a:ext cx="3625859" cy="34585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4" name="Arc 173">
                <a:extLst>
                  <a:ext uri="{FF2B5EF4-FFF2-40B4-BE49-F238E27FC236}">
                    <a16:creationId xmlns:a16="http://schemas.microsoft.com/office/drawing/2014/main" id="{96334C4D-F9DC-2710-EF25-AD94AE216AF9}"/>
                  </a:ext>
                </a:extLst>
              </p:cNvPr>
              <p:cNvSpPr/>
              <p:nvPr/>
            </p:nvSpPr>
            <p:spPr>
              <a:xfrm rot="11018839">
                <a:off x="7012468" y="4278596"/>
                <a:ext cx="246941" cy="15740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EA56F8CF-A518-CE47-251B-EDDA457C8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6064" y="4049903"/>
                <a:ext cx="0" cy="300919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9828FE9-F9AA-4C53-7D6C-4FBDE424D7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6221" y="4046362"/>
                <a:ext cx="0" cy="1386596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FF6699">
                    <a:alpha val="5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0" name="Arc 189">
                <a:extLst>
                  <a:ext uri="{FF2B5EF4-FFF2-40B4-BE49-F238E27FC236}">
                    <a16:creationId xmlns:a16="http://schemas.microsoft.com/office/drawing/2014/main" id="{BA6270DD-9319-F024-E4C3-89616666C2D6}"/>
                  </a:ext>
                </a:extLst>
              </p:cNvPr>
              <p:cNvSpPr/>
              <p:nvPr/>
            </p:nvSpPr>
            <p:spPr>
              <a:xfrm rot="5400000">
                <a:off x="8076034" y="3137193"/>
                <a:ext cx="246941" cy="157401"/>
              </a:xfrm>
              <a:prstGeom prst="arc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C10FF029-7783-86B7-6705-F917476668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1748" y="3340767"/>
                <a:ext cx="577756" cy="0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7976C26F-F27E-044E-8AB3-2FEF1E01D3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9473" y="4512904"/>
                <a:ext cx="0" cy="300919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5" name="Arc 194">
                <a:extLst>
                  <a:ext uri="{FF2B5EF4-FFF2-40B4-BE49-F238E27FC236}">
                    <a16:creationId xmlns:a16="http://schemas.microsoft.com/office/drawing/2014/main" id="{CB916C6A-36B1-E77F-72F3-612A4A26BBC5}"/>
                  </a:ext>
                </a:extLst>
              </p:cNvPr>
              <p:cNvSpPr/>
              <p:nvPr/>
            </p:nvSpPr>
            <p:spPr>
              <a:xfrm rot="16498780">
                <a:off x="3384849" y="4443297"/>
                <a:ext cx="246941" cy="15740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1AA40508-19C4-10BF-DD11-ACC1080342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4882" y="4395052"/>
                <a:ext cx="2141137" cy="0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9" name="Arc 198">
                <a:extLst>
                  <a:ext uri="{FF2B5EF4-FFF2-40B4-BE49-F238E27FC236}">
                    <a16:creationId xmlns:a16="http://schemas.microsoft.com/office/drawing/2014/main" id="{C7DE9A2B-6808-8746-C383-CAA8067C98B0}"/>
                  </a:ext>
                </a:extLst>
              </p:cNvPr>
              <p:cNvSpPr/>
              <p:nvPr/>
            </p:nvSpPr>
            <p:spPr>
              <a:xfrm rot="5193511">
                <a:off x="5500585" y="4198165"/>
                <a:ext cx="246941" cy="15740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718B6BC-20F0-8C33-E9C0-8633DE0F81DE}"/>
                  </a:ext>
                </a:extLst>
              </p:cNvPr>
              <p:cNvCxnSpPr>
                <a:cxnSpLocks/>
                <a:endCxn id="199" idx="0"/>
              </p:cNvCxnSpPr>
              <p:nvPr/>
            </p:nvCxnSpPr>
            <p:spPr>
              <a:xfrm flipH="1">
                <a:off x="5702614" y="4050518"/>
                <a:ext cx="2245" cy="221623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03" name="Arc 202">
                <a:extLst>
                  <a:ext uri="{FF2B5EF4-FFF2-40B4-BE49-F238E27FC236}">
                    <a16:creationId xmlns:a16="http://schemas.microsoft.com/office/drawing/2014/main" id="{F0162ACB-F2E0-5CD6-0BE1-E5FE3FA69832}"/>
                  </a:ext>
                </a:extLst>
              </p:cNvPr>
              <p:cNvSpPr/>
              <p:nvPr/>
            </p:nvSpPr>
            <p:spPr>
              <a:xfrm rot="16498780">
                <a:off x="1600168" y="4238743"/>
                <a:ext cx="246941" cy="15740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84C3DE4D-EC94-877B-2550-81EF7BE717DB}"/>
                  </a:ext>
                </a:extLst>
              </p:cNvPr>
              <p:cNvCxnSpPr>
                <a:cxnSpLocks/>
                <a:endCxn id="206" idx="2"/>
              </p:cNvCxnSpPr>
              <p:nvPr/>
            </p:nvCxnSpPr>
            <p:spPr>
              <a:xfrm flipV="1">
                <a:off x="1737128" y="4178911"/>
                <a:ext cx="3539340" cy="11942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06" name="Arc 205">
                <a:extLst>
                  <a:ext uri="{FF2B5EF4-FFF2-40B4-BE49-F238E27FC236}">
                    <a16:creationId xmlns:a16="http://schemas.microsoft.com/office/drawing/2014/main" id="{5B081DA1-114B-2217-7956-EBAFA938CC8E}"/>
                  </a:ext>
                </a:extLst>
              </p:cNvPr>
              <p:cNvSpPr/>
              <p:nvPr/>
            </p:nvSpPr>
            <p:spPr>
              <a:xfrm rot="5193511">
                <a:off x="5145586" y="3976963"/>
                <a:ext cx="246941" cy="157401"/>
              </a:xfrm>
              <a:prstGeom prst="arc">
                <a:avLst/>
              </a:prstGeom>
              <a:solidFill>
                <a:schemeClr val="bg1"/>
              </a:solidFill>
              <a:ln w="254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36416870-F574-CFA4-72A6-ED4515381C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43035" y="4308746"/>
                <a:ext cx="6028" cy="501491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9ABB8A94-5961-FE68-108E-67EE0736BD7E}"/>
                  </a:ext>
                </a:extLst>
              </p:cNvPr>
              <p:cNvCxnSpPr>
                <a:cxnSpLocks/>
                <a:stCxn id="227" idx="0"/>
              </p:cNvCxnSpPr>
              <p:nvPr/>
            </p:nvCxnSpPr>
            <p:spPr>
              <a:xfrm flipV="1">
                <a:off x="3856956" y="2642860"/>
                <a:ext cx="1247691" cy="2761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291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E8120744-E50D-E8D3-EA50-C7C8D40DAEC2}"/>
                  </a:ext>
                </a:extLst>
              </p:cNvPr>
              <p:cNvSpPr/>
              <p:nvPr/>
            </p:nvSpPr>
            <p:spPr>
              <a:xfrm rot="20840848">
                <a:off x="4928305" y="2651793"/>
                <a:ext cx="286384" cy="160197"/>
              </a:xfrm>
              <a:prstGeom prst="arc">
                <a:avLst>
                  <a:gd name="adj1" fmla="val 18216820"/>
                  <a:gd name="adj2" fmla="val 0"/>
                </a:avLst>
              </a:prstGeom>
              <a:solidFill>
                <a:schemeClr val="bg1"/>
              </a:solidFill>
              <a:ln w="25400">
                <a:solidFill>
                  <a:srgbClr val="291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E1C73BD-158A-3578-1856-17D8AFF400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11212" y="2692645"/>
                <a:ext cx="1970" cy="340216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291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2A69B893-3921-CBB3-9F19-17E7C3CEDF37}"/>
                  </a:ext>
                </a:extLst>
              </p:cNvPr>
              <p:cNvCxnSpPr>
                <a:cxnSpLocks/>
                <a:stCxn id="231" idx="0"/>
              </p:cNvCxnSpPr>
              <p:nvPr/>
            </p:nvCxnSpPr>
            <p:spPr>
              <a:xfrm>
                <a:off x="2262678" y="3041876"/>
                <a:ext cx="2659635" cy="26407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CF8EA9A8-E829-86A8-5EA3-29282FA378BE}"/>
                  </a:ext>
                </a:extLst>
              </p:cNvPr>
              <p:cNvCxnSpPr>
                <a:cxnSpLocks/>
                <a:stCxn id="238" idx="0"/>
              </p:cNvCxnSpPr>
              <p:nvPr/>
            </p:nvCxnSpPr>
            <p:spPr>
              <a:xfrm>
                <a:off x="652875" y="3529691"/>
                <a:ext cx="4210708" cy="41990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FF00FF">
                    <a:alpha val="72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27" name="Arc 226">
                <a:extLst>
                  <a:ext uri="{FF2B5EF4-FFF2-40B4-BE49-F238E27FC236}">
                    <a16:creationId xmlns:a16="http://schemas.microsoft.com/office/drawing/2014/main" id="{9C69F646-ADB7-7FA2-547A-E4B07474DECF}"/>
                  </a:ext>
                </a:extLst>
              </p:cNvPr>
              <p:cNvSpPr/>
              <p:nvPr/>
            </p:nvSpPr>
            <p:spPr>
              <a:xfrm rot="11366664">
                <a:off x="3799348" y="2495573"/>
                <a:ext cx="239490" cy="167099"/>
              </a:xfrm>
              <a:prstGeom prst="arc">
                <a:avLst>
                  <a:gd name="adj1" fmla="val 18216820"/>
                  <a:gd name="adj2" fmla="val 0"/>
                </a:avLst>
              </a:prstGeom>
              <a:solidFill>
                <a:schemeClr val="bg1"/>
              </a:solidFill>
              <a:ln w="25400">
                <a:solidFill>
                  <a:srgbClr val="291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8C7D1A86-D241-AB4A-A9A7-813B1D269C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6433" y="2306948"/>
                <a:ext cx="0" cy="256133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291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1" name="Arc 230">
                <a:extLst>
                  <a:ext uri="{FF2B5EF4-FFF2-40B4-BE49-F238E27FC236}">
                    <a16:creationId xmlns:a16="http://schemas.microsoft.com/office/drawing/2014/main" id="{034F1DFC-4CE4-4220-0AF8-6F9260107979}"/>
                  </a:ext>
                </a:extLst>
              </p:cNvPr>
              <p:cNvSpPr/>
              <p:nvPr/>
            </p:nvSpPr>
            <p:spPr>
              <a:xfrm rot="11366664">
                <a:off x="2205070" y="2891828"/>
                <a:ext cx="239490" cy="167099"/>
              </a:xfrm>
              <a:prstGeom prst="arc">
                <a:avLst>
                  <a:gd name="adj1" fmla="val 18216820"/>
                  <a:gd name="adj2" fmla="val 0"/>
                </a:avLst>
              </a:prstGeom>
              <a:solidFill>
                <a:schemeClr val="bg1"/>
              </a:solidFill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3E1E4B07-7886-807E-F8C2-643860AD16AB}"/>
                  </a:ext>
                </a:extLst>
              </p:cNvPr>
              <p:cNvCxnSpPr>
                <a:cxnSpLocks/>
                <a:endCxn id="21" idx="4"/>
              </p:cNvCxnSpPr>
              <p:nvPr/>
            </p:nvCxnSpPr>
            <p:spPr>
              <a:xfrm flipH="1" flipV="1">
                <a:off x="2198064" y="2265844"/>
                <a:ext cx="3549" cy="689884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570C6A0F-5646-58D0-7722-70CB1F018A43}"/>
                  </a:ext>
                </a:extLst>
              </p:cNvPr>
              <p:cNvSpPr/>
              <p:nvPr/>
            </p:nvSpPr>
            <p:spPr>
              <a:xfrm rot="11366664">
                <a:off x="595267" y="3379643"/>
                <a:ext cx="239490" cy="167099"/>
              </a:xfrm>
              <a:prstGeom prst="arc">
                <a:avLst>
                  <a:gd name="adj1" fmla="val 18216820"/>
                  <a:gd name="adj2" fmla="val 0"/>
                </a:avLst>
              </a:prstGeom>
              <a:solidFill>
                <a:schemeClr val="bg1"/>
              </a:solidFill>
              <a:ln w="25400">
                <a:solidFill>
                  <a:srgbClr val="FF00FF">
                    <a:alpha val="72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6C5C5E35-FB6C-9184-54F3-D07B09357E0E}"/>
                  </a:ext>
                </a:extLst>
              </p:cNvPr>
              <p:cNvCxnSpPr>
                <a:cxnSpLocks/>
                <a:stCxn id="238" idx="2"/>
              </p:cNvCxnSpPr>
              <p:nvPr/>
            </p:nvCxnSpPr>
            <p:spPr>
              <a:xfrm flipV="1">
                <a:off x="596890" y="2297918"/>
                <a:ext cx="14035" cy="1145625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FF00FF">
                    <a:alpha val="72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696ECBF6-5706-E1EF-E55F-93FC399AD667}"/>
                  </a:ext>
                </a:extLst>
              </p:cNvPr>
              <p:cNvSpPr/>
              <p:nvPr/>
            </p:nvSpPr>
            <p:spPr>
              <a:xfrm>
                <a:off x="5797029" y="1056824"/>
                <a:ext cx="1113181" cy="1073426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GB" b="1">
                    <a:solidFill>
                      <a:schemeClr val="tx1"/>
                    </a:solidFill>
                    <a:latin typeface="palatino"/>
                  </a:rPr>
                  <a:t>7 GWh</a:t>
                </a:r>
                <a:endParaRPr lang="en-GB" b="1" dirty="0">
                  <a:solidFill>
                    <a:schemeClr val="tx1"/>
                  </a:solidFill>
                  <a:latin typeface="palatino"/>
                </a:endParaRPr>
              </a:p>
            </p:txBody>
          </p: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66CAA75F-A65B-A6CA-776E-AFD80E4DA5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79297" y="2157545"/>
                <a:ext cx="311" cy="300091"/>
              </a:xfrm>
              <a:prstGeom prst="line">
                <a:avLst/>
              </a:prstGeom>
              <a:ln w="25400">
                <a:solidFill>
                  <a:srgbClr val="00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Arc 244">
                <a:extLst>
                  <a:ext uri="{FF2B5EF4-FFF2-40B4-BE49-F238E27FC236}">
                    <a16:creationId xmlns:a16="http://schemas.microsoft.com/office/drawing/2014/main" id="{2BE60CC2-341D-407D-2D64-4FF746C9647F}"/>
                  </a:ext>
                </a:extLst>
              </p:cNvPr>
              <p:cNvSpPr/>
              <p:nvPr/>
            </p:nvSpPr>
            <p:spPr>
              <a:xfrm rot="5400000">
                <a:off x="6177437" y="2378441"/>
                <a:ext cx="246941" cy="157401"/>
              </a:xfrm>
              <a:prstGeom prst="arc">
                <a:avLst/>
              </a:prstGeom>
              <a:ln w="25400">
                <a:solidFill>
                  <a:srgbClr val="00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8BC8BF14-6E66-C951-5F8F-99BC3000A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9780" y="2578996"/>
                <a:ext cx="337920" cy="0"/>
              </a:xfrm>
              <a:prstGeom prst="line">
                <a:avLst/>
              </a:prstGeom>
              <a:solidFill>
                <a:schemeClr val="bg1"/>
              </a:solidFill>
              <a:ln w="25400"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0" name="Arc 249">
                <a:extLst>
                  <a:ext uri="{FF2B5EF4-FFF2-40B4-BE49-F238E27FC236}">
                    <a16:creationId xmlns:a16="http://schemas.microsoft.com/office/drawing/2014/main" id="{43D72AEB-044B-5330-94AB-55109CF949D3}"/>
                  </a:ext>
                </a:extLst>
              </p:cNvPr>
              <p:cNvSpPr/>
              <p:nvPr/>
            </p:nvSpPr>
            <p:spPr>
              <a:xfrm rot="15352127">
                <a:off x="5853418" y="2639962"/>
                <a:ext cx="286384" cy="160197"/>
              </a:xfrm>
              <a:prstGeom prst="arc">
                <a:avLst>
                  <a:gd name="adj1" fmla="val 18216820"/>
                  <a:gd name="adj2" fmla="val 0"/>
                </a:avLst>
              </a:prstGeom>
              <a:ln w="25400">
                <a:solidFill>
                  <a:srgbClr val="00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17DCA77F-0449-E99E-6300-85885D52CD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6508" y="2684403"/>
                <a:ext cx="2352" cy="362403"/>
              </a:xfrm>
              <a:prstGeom prst="line">
                <a:avLst/>
              </a:prstGeom>
              <a:ln w="25400">
                <a:solidFill>
                  <a:srgbClr val="00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E6E41D26-4EF4-B38C-E3E6-0D0FD55494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1786" y="3148876"/>
                <a:ext cx="4727" cy="221087"/>
              </a:xfrm>
              <a:prstGeom prst="line">
                <a:avLst/>
              </a:prstGeom>
              <a:solidFill>
                <a:schemeClr val="bg1"/>
              </a:solidFill>
              <a:ln w="73025">
                <a:solidFill>
                  <a:srgbClr val="FF0000">
                    <a:alpha val="92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5A368B96-D8A9-EF0D-4F37-99919271C1E8}"/>
                </a:ext>
              </a:extLst>
            </p:cNvPr>
            <p:cNvGrpSpPr/>
            <p:nvPr/>
          </p:nvGrpSpPr>
          <p:grpSpPr>
            <a:xfrm>
              <a:off x="3621995" y="-133793"/>
              <a:ext cx="5346874" cy="1147710"/>
              <a:chOff x="2272683" y="1007090"/>
              <a:chExt cx="7104653" cy="2067045"/>
            </a:xfrm>
          </p:grpSpPr>
          <p:pic>
            <p:nvPicPr>
              <p:cNvPr id="284" name="Picture 6" descr="Large Denmark Flag | Buy Giant Denmark Flag | The Flag Shop">
                <a:extLst>
                  <a:ext uri="{FF2B5EF4-FFF2-40B4-BE49-F238E27FC236}">
                    <a16:creationId xmlns:a16="http://schemas.microsoft.com/office/drawing/2014/main" id="{93A56984-FD0F-55A7-DE1C-B2869B51DA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5209" y="1145219"/>
                <a:ext cx="1102496" cy="11024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5" name="Picture 10" descr="Flag of Ireland-1592399882 | Free SVG">
                <a:extLst>
                  <a:ext uri="{FF2B5EF4-FFF2-40B4-BE49-F238E27FC236}">
                    <a16:creationId xmlns:a16="http://schemas.microsoft.com/office/drawing/2014/main" id="{7D67BD9D-AF7F-9095-AF80-B724B38AF6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1011" y="1007090"/>
                <a:ext cx="1102496" cy="13593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6" name="Picture 12" descr="Flag of Norway | Colors, Meaning &amp; History | Britannica">
                <a:extLst>
                  <a:ext uri="{FF2B5EF4-FFF2-40B4-BE49-F238E27FC236}">
                    <a16:creationId xmlns:a16="http://schemas.microsoft.com/office/drawing/2014/main" id="{59233759-7AC1-AF56-6B99-9EB0612A67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09407" y="1339336"/>
                <a:ext cx="1102496" cy="6948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7" name="Picture 16" descr="Belgium Flag 8Ft X 5Ft">
                <a:extLst>
                  <a:ext uri="{FF2B5EF4-FFF2-40B4-BE49-F238E27FC236}">
                    <a16:creationId xmlns:a16="http://schemas.microsoft.com/office/drawing/2014/main" id="{EDCFC5D2-C2E3-2904-5D1B-7B8A7BCE8A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3605" y="1135537"/>
                <a:ext cx="1102497" cy="11024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8" name="Picture 18" descr="France Flag 8ft X 5ft">
                <a:extLst>
                  <a:ext uri="{FF2B5EF4-FFF2-40B4-BE49-F238E27FC236}">
                    <a16:creationId xmlns:a16="http://schemas.microsoft.com/office/drawing/2014/main" id="{35B0FCCF-9B0D-7E19-3600-1B95C4E1F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97803" y="1145219"/>
                <a:ext cx="1102497" cy="11024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B7C69953-FC9C-D83B-0915-B801E4F6C733}"/>
                  </a:ext>
                </a:extLst>
              </p:cNvPr>
              <p:cNvSpPr txBox="1"/>
              <p:nvPr/>
            </p:nvSpPr>
            <p:spPr>
              <a:xfrm>
                <a:off x="2272683" y="2104872"/>
                <a:ext cx="1367162" cy="9423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GB" sz="1400" b="1" dirty="0">
                    <a:latin typeface="palatino"/>
                  </a:rPr>
                  <a:t>Ireland </a:t>
                </a:r>
              </a:p>
              <a:p>
                <a:pPr algn="ctr"/>
                <a:r>
                  <a:rPr lang="en-GB" sz="1400" b="1">
                    <a:latin typeface="palatino"/>
                  </a:rPr>
                  <a:t>0.5 GWh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7F5BED9-7D7B-C781-74F3-640DAFC4A902}"/>
                  </a:ext>
                </a:extLst>
              </p:cNvPr>
              <p:cNvSpPr txBox="1"/>
              <p:nvPr/>
            </p:nvSpPr>
            <p:spPr>
              <a:xfrm>
                <a:off x="3732876" y="2104872"/>
                <a:ext cx="1367162" cy="9423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GB" sz="1400" b="1" dirty="0">
                    <a:latin typeface="palatino"/>
                  </a:rPr>
                  <a:t>Denmark </a:t>
                </a:r>
              </a:p>
              <a:p>
                <a:pPr algn="ctr"/>
                <a:r>
                  <a:rPr lang="en-GB" sz="1400" b="1">
                    <a:latin typeface="palatino"/>
                  </a:rPr>
                  <a:t>1 GWh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F159F647-A49B-4F1E-D007-3BD94F0DFC90}"/>
                  </a:ext>
                </a:extLst>
              </p:cNvPr>
              <p:cNvSpPr txBox="1"/>
              <p:nvPr/>
            </p:nvSpPr>
            <p:spPr>
              <a:xfrm>
                <a:off x="5100037" y="2104872"/>
                <a:ext cx="1367162" cy="9423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GB" sz="1400" b="1" dirty="0">
                    <a:latin typeface="palatino"/>
                  </a:rPr>
                  <a:t>Norway </a:t>
                </a:r>
              </a:p>
              <a:p>
                <a:pPr algn="ctr"/>
                <a:r>
                  <a:rPr lang="en-GB" sz="1400" b="1">
                    <a:latin typeface="palatino"/>
                  </a:rPr>
                  <a:t>1.4 GWh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49251852-5BBB-A7E0-15B1-6FC6297C727D}"/>
                  </a:ext>
                </a:extLst>
              </p:cNvPr>
              <p:cNvSpPr txBox="1"/>
              <p:nvPr/>
            </p:nvSpPr>
            <p:spPr>
              <a:xfrm>
                <a:off x="6599533" y="2131807"/>
                <a:ext cx="1367162" cy="9423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GB" sz="1400" b="1" dirty="0">
                    <a:latin typeface="palatino"/>
                  </a:rPr>
                  <a:t>Belgium</a:t>
                </a:r>
              </a:p>
              <a:p>
                <a:pPr algn="ctr"/>
                <a:r>
                  <a:rPr lang="en-GB" sz="1400" b="1">
                    <a:latin typeface="palatino"/>
                  </a:rPr>
                  <a:t>1 GWh</a:t>
                </a: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B9841A0D-C748-E85C-40DC-E931C58E341D}"/>
                  </a:ext>
                </a:extLst>
              </p:cNvPr>
              <p:cNvSpPr txBox="1"/>
              <p:nvPr/>
            </p:nvSpPr>
            <p:spPr>
              <a:xfrm>
                <a:off x="8010174" y="2131807"/>
                <a:ext cx="1367162" cy="9423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GB" sz="1400" b="1" dirty="0">
                    <a:latin typeface="palatino"/>
                  </a:rPr>
                  <a:t>France</a:t>
                </a:r>
              </a:p>
              <a:p>
                <a:pPr algn="ctr"/>
                <a:r>
                  <a:rPr lang="en-GB" sz="1400" b="1">
                    <a:latin typeface="palatino"/>
                  </a:rPr>
                  <a:t>3 GWh</a:t>
                </a:r>
              </a:p>
            </p:txBody>
          </p:sp>
        </p:grpSp>
        <p:sp>
          <p:nvSpPr>
            <p:cNvPr id="294" name="Left Brace 293">
              <a:extLst>
                <a:ext uri="{FF2B5EF4-FFF2-40B4-BE49-F238E27FC236}">
                  <a16:creationId xmlns:a16="http://schemas.microsoft.com/office/drawing/2014/main" id="{6AAB979D-549F-B7B2-12B2-F23C27C29441}"/>
                </a:ext>
              </a:extLst>
            </p:cNvPr>
            <p:cNvSpPr/>
            <p:nvPr/>
          </p:nvSpPr>
          <p:spPr>
            <a:xfrm rot="16200000">
              <a:off x="6018292" y="-1811944"/>
              <a:ext cx="522873" cy="5639764"/>
            </a:xfrm>
            <a:prstGeom prst="leftBrace">
              <a:avLst>
                <a:gd name="adj1" fmla="val 43981"/>
                <a:gd name="adj2" fmla="val 49607"/>
              </a:avLst>
            </a:prstGeom>
            <a:ln w="15875">
              <a:solidFill>
                <a:srgbClr val="0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E6A43830-CD49-E293-7C2F-53FD26D58D4A}"/>
                </a:ext>
              </a:extLst>
            </p:cNvPr>
            <p:cNvSpPr txBox="1"/>
            <p:nvPr/>
          </p:nvSpPr>
          <p:spPr>
            <a:xfrm>
              <a:off x="-130204" y="241901"/>
              <a:ext cx="2634588" cy="615553"/>
            </a:xfrm>
            <a:prstGeom prst="rect">
              <a:avLst/>
            </a:prstGeom>
            <a:gradFill flip="none" rotWithShape="1">
              <a:gsLst>
                <a:gs pos="13000">
                  <a:schemeClr val="accent4">
                    <a:lumMod val="0"/>
                  </a:schemeClr>
                </a:gs>
                <a:gs pos="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latino"/>
                </a:rPr>
                <a:t>Energy Dashboard </a:t>
              </a:r>
            </a:p>
            <a:p>
              <a:pPr algn="ctr"/>
              <a:r>
                <a:rPr lang="en-GB" sz="1600" u="sng" dirty="0">
                  <a:solidFill>
                    <a:schemeClr val="bg1"/>
                  </a:solidFill>
                  <a:latin typeface="palatino"/>
                </a:rPr>
                <a:t>17 Feb. 2040, 18:00</a:t>
              </a:r>
            </a:p>
          </p:txBody>
        </p:sp>
        <p:sp>
          <p:nvSpPr>
            <p:cNvPr id="296" name="Arc 295">
              <a:extLst>
                <a:ext uri="{FF2B5EF4-FFF2-40B4-BE49-F238E27FC236}">
                  <a16:creationId xmlns:a16="http://schemas.microsoft.com/office/drawing/2014/main" id="{19D82C6B-135D-41A8-FC3E-6F52E33F9460}"/>
                </a:ext>
              </a:extLst>
            </p:cNvPr>
            <p:cNvSpPr/>
            <p:nvPr/>
          </p:nvSpPr>
          <p:spPr>
            <a:xfrm rot="5837435">
              <a:off x="7280692" y="4084488"/>
              <a:ext cx="232376" cy="153088"/>
            </a:xfrm>
            <a:prstGeom prst="arc">
              <a:avLst/>
            </a:prstGeom>
            <a:solidFill>
              <a:schemeClr val="bg1"/>
            </a:solidFill>
            <a:ln w="666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2A4783AF-8057-8661-159B-BFAE78CA6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7550" y="3829034"/>
              <a:ext cx="619" cy="343763"/>
            </a:xfrm>
            <a:prstGeom prst="line">
              <a:avLst/>
            </a:prstGeom>
            <a:solidFill>
              <a:schemeClr val="bg1"/>
            </a:solidFill>
            <a:ln w="666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81222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2026-04-21T18:35:52Z</dcterms:created>
  <dcterms:modified xsi:type="dcterms:W3CDTF">2026-04-21T18:37:02Z</dcterms:modified>
</cp:coreProperties>
</file>